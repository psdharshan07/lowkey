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Arial" charset="1" panose="020B0604020202020204"/>
      <p:regular r:id="rId14"/>
    </p:embeddedFont>
    <p:embeddedFont>
      <p:font typeface="Times New Roman" charset="1" panose="02020603050405020304"/>
      <p:regular r:id="rId15"/>
    </p:embeddedFont>
    <p:embeddedFont>
      <p:font typeface="Arimo Bold" charset="1" panose="020B0704020202020204"/>
      <p:regular r:id="rId16"/>
    </p:embeddedFont>
    <p:embeddedFont>
      <p:font typeface="Times New Roman Bold" charset="1" panose="02020803070505020304"/>
      <p:regular r:id="rId17"/>
    </p:embeddedFont>
    <p:embeddedFont>
      <p:font typeface="Rugrats Sans" charset="1" panose="00000000000000000000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Arimo" charset="1" panose="020B0604020202020204"/>
      <p:regular r:id="rId21"/>
    </p:embeddedFont>
    <p:embeddedFont>
      <p:font typeface="Segoe UI Bold" charset="1" panose="020B0802040204020203"/>
      <p:regular r:id="rId22"/>
    </p:embeddedFont>
    <p:embeddedFont>
      <p:font typeface="Segoe UI" charset="1" panose="020B0502040204020203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4.jpe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9.png" Type="http://schemas.openxmlformats.org/officeDocument/2006/relationships/image"/><Relationship Id="rId8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3.png" Type="http://schemas.openxmlformats.org/officeDocument/2006/relationships/image"/><Relationship Id="rId2" Target="../media/image14.pn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https://link.springer.com/article/10.1007/s42461-022-00678-x" TargetMode="External" Type="http://schemas.openxmlformats.org/officeDocument/2006/relationships/hyperlink"/><Relationship Id="rId13" Target="https://www.cdc.gov/niosh/publications/numbered/2000-120.html?CDC_AA_refVal=https%3A%2F%2Fwww.cdc.gov%2Fniosh%2Fdocs%2Fmining%2Fworks%2Fcoversheet296.html" TargetMode="External" Type="http://schemas.openxmlformats.org/officeDocument/2006/relationships/hyperlink"/><Relationship Id="rId2" Target="../media/image1.jpeg" Type="http://schemas.openxmlformats.org/officeDocument/2006/relationships/image"/><Relationship Id="rId3" Target="../media/image2.jpeg" Type="http://schemas.openxmlformats.org/officeDocument/2006/relationships/image"/><Relationship Id="rId4" Target="../media/image3.png" Type="http://schemas.openxmlformats.org/officeDocument/2006/relationships/image"/><Relationship Id="rId5" Target="../media/image23.png" Type="http://schemas.openxmlformats.org/officeDocument/2006/relationships/image"/><Relationship Id="rId6" Target="../media/image24.svg" Type="http://schemas.openxmlformats.org/officeDocument/2006/relationships/image"/><Relationship Id="rId7" Target="https://link.springer.com/article/10.1007/s42461-022-00678-x" TargetMode="External" Type="http://schemas.openxmlformats.org/officeDocument/2006/relationships/hyperlink"/><Relationship Id="rId8" Target="https://link.springer.com/article/10.1007/s42461-022-00678-x" TargetMode="External" Type="http://schemas.openxmlformats.org/officeDocument/2006/relationships/hyperlink"/><Relationship Id="rId9" Target="https://link.springer.com/article/10.1007/s42461-022-00678-x" TargetMode="External" Type="http://schemas.openxmlformats.org/officeDocument/2006/relationships/hyperlink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09600" y="-910780"/>
            <a:ext cx="15544800" cy="3100454"/>
            <a:chOff x="0" y="0"/>
            <a:chExt cx="20726400" cy="41339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4133977"/>
            </a:xfrm>
            <a:custGeom>
              <a:avLst/>
              <a:gdLst/>
              <a:ahLst/>
              <a:cxnLst/>
              <a:rect r="r" b="b" t="t" l="l"/>
              <a:pathLst>
                <a:path h="4133977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33977"/>
                  </a:lnTo>
                  <a:lnTo>
                    <a:pt x="0" y="413397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624" r="0" b="-47623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09600" y="-925001"/>
            <a:ext cx="15544800" cy="3114675"/>
            <a:chOff x="0" y="0"/>
            <a:chExt cx="20726400" cy="41529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75158" y="844496"/>
            <a:ext cx="11083442" cy="9294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63574" indent="-221191" lvl="2">
              <a:lnSpc>
                <a:spcPts val="6999"/>
              </a:lnSpc>
              <a:buFont typeface="Arial"/>
              <a:buChar char="⚬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SIH26007</a:t>
            </a:r>
          </a:p>
          <a:p>
            <a:pPr algn="just" marL="663574" indent="-221191" lvl="2">
              <a:lnSpc>
                <a:spcPts val="6999"/>
              </a:lnSpc>
              <a:buFont typeface="Arial"/>
              <a:buChar char="⚬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Safe and Operations of Mine Vehicles in Fog and  Low – Visibility Conditions in Open Cast Iron Ore Mines</a:t>
            </a:r>
          </a:p>
          <a:p>
            <a:pPr algn="just" marL="663574" indent="-221191" lvl="2">
              <a:lnSpc>
                <a:spcPts val="6999"/>
              </a:lnSpc>
              <a:buFont typeface="Arial"/>
              <a:buChar char="⚬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Smart Automation</a:t>
            </a:r>
          </a:p>
          <a:p>
            <a:pPr algn="just" marL="663574" indent="-221191" lvl="2">
              <a:lnSpc>
                <a:spcPts val="6999"/>
              </a:lnSpc>
              <a:buFont typeface="Arial"/>
              <a:buChar char="⚬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Hardware</a:t>
            </a:r>
          </a:p>
          <a:p>
            <a:pPr algn="just" marL="663574" indent="-221191" lvl="2">
              <a:lnSpc>
                <a:spcPts val="6999"/>
              </a:lnSpc>
              <a:buFont typeface="Arial"/>
              <a:buChar char="⚬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 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SIH26-A0H-T237</a:t>
            </a:r>
          </a:p>
          <a:p>
            <a:pPr algn="just" marL="663574" indent="-221191" lvl="2">
              <a:lnSpc>
                <a:spcPts val="6999"/>
              </a:lnSpc>
              <a:buFont typeface="Arial"/>
              <a:buChar char="⚬"/>
            </a:pPr>
            <a:r>
              <a:rPr lang="en-US" b="true" sz="2799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</a:t>
            </a:r>
            <a:r>
              <a:rPr lang="en-US" sz="2799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Lowkey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" r="0" b="-21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44175" y="2997870"/>
            <a:ext cx="5400756" cy="4652226"/>
            <a:chOff x="0" y="0"/>
            <a:chExt cx="5895049" cy="507801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895049" cy="5078011"/>
            </a:xfrm>
            <a:custGeom>
              <a:avLst/>
              <a:gdLst/>
              <a:ahLst/>
              <a:cxnLst/>
              <a:rect r="r" b="b" t="t" l="l"/>
              <a:pathLst>
                <a:path h="5078011" w="5895049">
                  <a:moveTo>
                    <a:pt x="0" y="0"/>
                  </a:moveTo>
                  <a:lnTo>
                    <a:pt x="5895049" y="0"/>
                  </a:lnTo>
                  <a:lnTo>
                    <a:pt x="5895049" y="5078011"/>
                  </a:lnTo>
                  <a:lnTo>
                    <a:pt x="0" y="50780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7076" t="0" r="-7076" b="0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14866688" y="7596134"/>
            <a:ext cx="3739890" cy="9321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79"/>
              </a:lnSpc>
            </a:pPr>
            <a:r>
              <a:rPr lang="en-US" sz="6066" spc="-569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SIH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15106397" y="8386355"/>
            <a:ext cx="833591" cy="141963"/>
            <a:chOff x="0" y="0"/>
            <a:chExt cx="829056" cy="1411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29056" cy="141191"/>
            </a:xfrm>
            <a:custGeom>
              <a:avLst/>
              <a:gdLst/>
              <a:ahLst/>
              <a:cxnLst/>
              <a:rect r="r" b="b" t="t" l="l"/>
              <a:pathLst>
                <a:path h="141191" w="829056">
                  <a:moveTo>
                    <a:pt x="0" y="0"/>
                  </a:moveTo>
                  <a:lnTo>
                    <a:pt x="829056" y="0"/>
                  </a:lnTo>
                  <a:lnTo>
                    <a:pt x="829056" y="141191"/>
                  </a:lnTo>
                  <a:lnTo>
                    <a:pt x="0" y="1411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10446" r="0" b="-10445"/>
              </a:stretch>
            </a:blipFill>
          </p:spPr>
        </p:sp>
      </p:grpSp>
      <p:grpSp>
        <p:nvGrpSpPr>
          <p:cNvPr name="Group 15" id="15"/>
          <p:cNvGrpSpPr/>
          <p:nvPr/>
        </p:nvGrpSpPr>
        <p:grpSpPr>
          <a:xfrm rot="0">
            <a:off x="15283484" y="8767531"/>
            <a:ext cx="479418" cy="143825"/>
            <a:chOff x="0" y="0"/>
            <a:chExt cx="487680" cy="146304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87680" cy="146304"/>
            </a:xfrm>
            <a:custGeom>
              <a:avLst/>
              <a:gdLst/>
              <a:ahLst/>
              <a:cxnLst/>
              <a:rect r="r" b="b" t="t" l="l"/>
              <a:pathLst>
                <a:path h="146304" w="487680">
                  <a:moveTo>
                    <a:pt x="0" y="0"/>
                  </a:moveTo>
                  <a:lnTo>
                    <a:pt x="487680" y="0"/>
                  </a:lnTo>
                  <a:lnTo>
                    <a:pt x="487680" y="146304"/>
                  </a:lnTo>
                  <a:lnTo>
                    <a:pt x="0" y="1463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9040" y="9437560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2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8039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39">
                  <a:moveTo>
                    <a:pt x="0" y="0"/>
                  </a:moveTo>
                  <a:lnTo>
                    <a:pt x="6408039" y="0"/>
                  </a:lnTo>
                  <a:lnTo>
                    <a:pt x="6408039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864" r="0" b="-120862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5768838" y="-93335"/>
            <a:ext cx="2401776" cy="1075877"/>
            <a:chOff x="0" y="0"/>
            <a:chExt cx="3202368" cy="14345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3202432" cy="1434465"/>
            </a:xfrm>
            <a:custGeom>
              <a:avLst/>
              <a:gdLst/>
              <a:ahLst/>
              <a:cxnLst/>
              <a:rect r="r" b="b" t="t" l="l"/>
              <a:pathLst>
                <a:path h="1434465" w="3202432">
                  <a:moveTo>
                    <a:pt x="0" y="0"/>
                  </a:moveTo>
                  <a:lnTo>
                    <a:pt x="3202432" y="0"/>
                  </a:lnTo>
                  <a:lnTo>
                    <a:pt x="3202432" y="1434465"/>
                  </a:lnTo>
                  <a:lnTo>
                    <a:pt x="0" y="1434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728" r="1" b="-273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282597" y="22517"/>
            <a:ext cx="1937623" cy="1083288"/>
          </a:xfrm>
          <a:custGeom>
            <a:avLst/>
            <a:gdLst/>
            <a:ahLst/>
            <a:cxnLst/>
            <a:rect r="r" b="b" t="t" l="l"/>
            <a:pathLst>
              <a:path h="1083288" w="1937623">
                <a:moveTo>
                  <a:pt x="0" y="0"/>
                </a:moveTo>
                <a:lnTo>
                  <a:pt x="1937623" y="0"/>
                </a:lnTo>
                <a:lnTo>
                  <a:pt x="1937623" y="1083288"/>
                </a:lnTo>
                <a:lnTo>
                  <a:pt x="0" y="108328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3985189" y="151433"/>
            <a:ext cx="10317623" cy="1143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77"/>
              </a:lnSpc>
            </a:pPr>
            <a:r>
              <a:rPr lang="en-US" sz="3899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 </a:t>
            </a:r>
          </a:p>
          <a:p>
            <a:pPr algn="ctr">
              <a:lnSpc>
                <a:spcPts val="3957"/>
              </a:lnSpc>
            </a:pPr>
          </a:p>
        </p:txBody>
      </p:sp>
      <p:sp>
        <p:nvSpPr>
          <p:cNvPr name="AutoShape 15" id="15"/>
          <p:cNvSpPr/>
          <p:nvPr/>
        </p:nvSpPr>
        <p:spPr>
          <a:xfrm>
            <a:off x="229191" y="976902"/>
            <a:ext cx="18077819" cy="38178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 flipH="true">
            <a:off x="5658916" y="1031130"/>
            <a:ext cx="57173" cy="8209884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sp>
        <p:nvSpPr>
          <p:cNvPr name="AutoShape 17" id="17"/>
          <p:cNvSpPr/>
          <p:nvPr/>
        </p:nvSpPr>
        <p:spPr>
          <a:xfrm flipH="true">
            <a:off x="12318739" y="1031031"/>
            <a:ext cx="38131" cy="8151958"/>
          </a:xfrm>
          <a:prstGeom prst="line">
            <a:avLst/>
          </a:prstGeom>
          <a:ln cap="rnd" w="28575">
            <a:solidFill>
              <a:srgbClr val="000000"/>
            </a:solidFill>
            <a:prstDash val="solid"/>
            <a:headEnd type="diamond" len="lg" w="lg"/>
            <a:tailEnd type="diamond" len="lg" w="lg"/>
          </a:ln>
        </p:spPr>
      </p:sp>
      <p:grpSp>
        <p:nvGrpSpPr>
          <p:cNvPr name="Group 18" id="18"/>
          <p:cNvGrpSpPr/>
          <p:nvPr/>
        </p:nvGrpSpPr>
        <p:grpSpPr>
          <a:xfrm rot="0">
            <a:off x="12719875" y="4261158"/>
            <a:ext cx="5450739" cy="1086188"/>
            <a:chOff x="0" y="0"/>
            <a:chExt cx="1121551" cy="22349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121551" cy="223496"/>
            </a:xfrm>
            <a:custGeom>
              <a:avLst/>
              <a:gdLst/>
              <a:ahLst/>
              <a:cxnLst/>
              <a:rect r="r" b="b" t="t" l="l"/>
              <a:pathLst>
                <a:path h="223496" w="1121551">
                  <a:moveTo>
                    <a:pt x="27741" y="0"/>
                  </a:moveTo>
                  <a:lnTo>
                    <a:pt x="1093810" y="0"/>
                  </a:lnTo>
                  <a:cubicBezTo>
                    <a:pt x="1101168" y="0"/>
                    <a:pt x="1108224" y="2923"/>
                    <a:pt x="1113426" y="8125"/>
                  </a:cubicBezTo>
                  <a:cubicBezTo>
                    <a:pt x="1118629" y="13328"/>
                    <a:pt x="1121551" y="20384"/>
                    <a:pt x="1121551" y="27741"/>
                  </a:cubicBezTo>
                  <a:lnTo>
                    <a:pt x="1121551" y="195754"/>
                  </a:lnTo>
                  <a:cubicBezTo>
                    <a:pt x="1121551" y="211075"/>
                    <a:pt x="1109131" y="223496"/>
                    <a:pt x="1093810" y="223496"/>
                  </a:cubicBezTo>
                  <a:lnTo>
                    <a:pt x="27741" y="223496"/>
                  </a:lnTo>
                  <a:cubicBezTo>
                    <a:pt x="20384" y="223496"/>
                    <a:pt x="13328" y="220573"/>
                    <a:pt x="8125" y="215370"/>
                  </a:cubicBezTo>
                  <a:cubicBezTo>
                    <a:pt x="2923" y="210168"/>
                    <a:pt x="0" y="203112"/>
                    <a:pt x="0" y="195754"/>
                  </a:cubicBezTo>
                  <a:lnTo>
                    <a:pt x="0" y="27741"/>
                  </a:lnTo>
                  <a:cubicBezTo>
                    <a:pt x="0" y="20384"/>
                    <a:pt x="2923" y="13328"/>
                    <a:pt x="8125" y="8125"/>
                  </a:cubicBezTo>
                  <a:cubicBezTo>
                    <a:pt x="13328" y="2923"/>
                    <a:pt x="20384" y="0"/>
                    <a:pt x="27741" y="0"/>
                  </a:cubicBezTo>
                  <a:close/>
                </a:path>
              </a:pathLst>
            </a:custGeom>
            <a:solidFill>
              <a:srgbClr val="D0FCF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0"/>
              <a:ext cx="1121551" cy="22349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8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3121145" y="4415980"/>
            <a:ext cx="4738811" cy="1051362"/>
            <a:chOff x="0" y="0"/>
            <a:chExt cx="6318415" cy="140181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318414" cy="1401813"/>
            </a:xfrm>
            <a:custGeom>
              <a:avLst/>
              <a:gdLst/>
              <a:ahLst/>
              <a:cxnLst/>
              <a:rect r="r" b="b" t="t" l="l"/>
              <a:pathLst>
                <a:path h="1401813" w="6318414">
                  <a:moveTo>
                    <a:pt x="0" y="0"/>
                  </a:moveTo>
                  <a:lnTo>
                    <a:pt x="6318414" y="0"/>
                  </a:lnTo>
                  <a:lnTo>
                    <a:pt x="6318414" y="1401813"/>
                  </a:lnTo>
                  <a:lnTo>
                    <a:pt x="0" y="140181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098" r="0" b="-53552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6318415" cy="1420866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8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Thermal &amp; AI vision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.Detects vehicles,pedestrians &amp; obstacles in fog.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2785934" y="5505442"/>
            <a:ext cx="5384680" cy="1145034"/>
            <a:chOff x="0" y="0"/>
            <a:chExt cx="1107959" cy="235604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07959" cy="235604"/>
            </a:xfrm>
            <a:custGeom>
              <a:avLst/>
              <a:gdLst/>
              <a:ahLst/>
              <a:cxnLst/>
              <a:rect r="r" b="b" t="t" l="l"/>
              <a:pathLst>
                <a:path h="235604" w="1107959">
                  <a:moveTo>
                    <a:pt x="28081" y="0"/>
                  </a:moveTo>
                  <a:lnTo>
                    <a:pt x="1079877" y="0"/>
                  </a:lnTo>
                  <a:cubicBezTo>
                    <a:pt x="1087325" y="0"/>
                    <a:pt x="1094468" y="2959"/>
                    <a:pt x="1099734" y="8225"/>
                  </a:cubicBezTo>
                  <a:cubicBezTo>
                    <a:pt x="1105000" y="13491"/>
                    <a:pt x="1107959" y="20634"/>
                    <a:pt x="1107959" y="28081"/>
                  </a:cubicBezTo>
                  <a:lnTo>
                    <a:pt x="1107959" y="207522"/>
                  </a:lnTo>
                  <a:cubicBezTo>
                    <a:pt x="1107959" y="214970"/>
                    <a:pt x="1105000" y="222113"/>
                    <a:pt x="1099734" y="227379"/>
                  </a:cubicBezTo>
                  <a:cubicBezTo>
                    <a:pt x="1094468" y="232645"/>
                    <a:pt x="1087325" y="235604"/>
                    <a:pt x="1079877" y="235604"/>
                  </a:cubicBezTo>
                  <a:lnTo>
                    <a:pt x="28081" y="235604"/>
                  </a:lnTo>
                  <a:cubicBezTo>
                    <a:pt x="20634" y="235604"/>
                    <a:pt x="13491" y="232645"/>
                    <a:pt x="8225" y="227379"/>
                  </a:cubicBezTo>
                  <a:cubicBezTo>
                    <a:pt x="2959" y="222113"/>
                    <a:pt x="0" y="214970"/>
                    <a:pt x="0" y="207522"/>
                  </a:cubicBezTo>
                  <a:lnTo>
                    <a:pt x="0" y="28081"/>
                  </a:lnTo>
                  <a:cubicBezTo>
                    <a:pt x="0" y="20634"/>
                    <a:pt x="2959" y="13491"/>
                    <a:pt x="8225" y="8225"/>
                  </a:cubicBezTo>
                  <a:cubicBezTo>
                    <a:pt x="13491" y="2959"/>
                    <a:pt x="20634" y="0"/>
                    <a:pt x="28081" y="0"/>
                  </a:cubicBezTo>
                  <a:close/>
                </a:path>
              </a:pathLst>
            </a:custGeom>
            <a:solidFill>
              <a:srgbClr val="D0FCFF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0"/>
              <a:ext cx="1107959" cy="2356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8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094976" y="5347347"/>
            <a:ext cx="4766596" cy="1379654"/>
            <a:chOff x="0" y="0"/>
            <a:chExt cx="6355461" cy="183953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55455" cy="1839534"/>
            </a:xfrm>
            <a:custGeom>
              <a:avLst/>
              <a:gdLst/>
              <a:ahLst/>
              <a:cxnLst/>
              <a:rect r="r" b="b" t="t" l="l"/>
              <a:pathLst>
                <a:path h="1839534" w="6355455">
                  <a:moveTo>
                    <a:pt x="0" y="0"/>
                  </a:moveTo>
                  <a:lnTo>
                    <a:pt x="6355455" y="0"/>
                  </a:lnTo>
                  <a:lnTo>
                    <a:pt x="6355455" y="1839534"/>
                  </a:lnTo>
                  <a:lnTo>
                    <a:pt x="0" y="183953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319" r="0" b="-17319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6355461" cy="185858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8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V2V &amp; V2I Alerts </a:t>
              </a:r>
            </a:p>
            <a:p>
              <a:pPr algn="ctr">
                <a:lnSpc>
                  <a:spcPts val="2759"/>
                </a:lnSpc>
              </a:pPr>
              <a:r>
                <a:rPr lang="en-US" sz="229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Shares data between vehicles and infrastructure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2798211" y="2924680"/>
            <a:ext cx="5450739" cy="1203129"/>
            <a:chOff x="0" y="0"/>
            <a:chExt cx="1257515" cy="27756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57515" cy="277568"/>
            </a:xfrm>
            <a:custGeom>
              <a:avLst/>
              <a:gdLst/>
              <a:ahLst/>
              <a:cxnLst/>
              <a:rect r="r" b="b" t="t" l="l"/>
              <a:pathLst>
                <a:path h="277568" w="1257515">
                  <a:moveTo>
                    <a:pt x="27741" y="0"/>
                  </a:moveTo>
                  <a:lnTo>
                    <a:pt x="1229774" y="0"/>
                  </a:lnTo>
                  <a:cubicBezTo>
                    <a:pt x="1245095" y="0"/>
                    <a:pt x="1257515" y="12420"/>
                    <a:pt x="1257515" y="27741"/>
                  </a:cubicBezTo>
                  <a:lnTo>
                    <a:pt x="1257515" y="249827"/>
                  </a:lnTo>
                  <a:cubicBezTo>
                    <a:pt x="1257515" y="257185"/>
                    <a:pt x="1254593" y="264241"/>
                    <a:pt x="1249390" y="269443"/>
                  </a:cubicBezTo>
                  <a:cubicBezTo>
                    <a:pt x="1244188" y="274646"/>
                    <a:pt x="1237132" y="277568"/>
                    <a:pt x="1229774" y="277568"/>
                  </a:cubicBezTo>
                  <a:lnTo>
                    <a:pt x="27741" y="277568"/>
                  </a:lnTo>
                  <a:cubicBezTo>
                    <a:pt x="20384" y="277568"/>
                    <a:pt x="13328" y="274646"/>
                    <a:pt x="8125" y="269443"/>
                  </a:cubicBezTo>
                  <a:cubicBezTo>
                    <a:pt x="2923" y="264241"/>
                    <a:pt x="0" y="257185"/>
                    <a:pt x="0" y="249827"/>
                  </a:cubicBezTo>
                  <a:lnTo>
                    <a:pt x="0" y="27741"/>
                  </a:lnTo>
                  <a:cubicBezTo>
                    <a:pt x="0" y="20384"/>
                    <a:pt x="2923" y="13328"/>
                    <a:pt x="8125" y="8125"/>
                  </a:cubicBezTo>
                  <a:cubicBezTo>
                    <a:pt x="13328" y="2923"/>
                    <a:pt x="20384" y="0"/>
                    <a:pt x="27741" y="0"/>
                  </a:cubicBezTo>
                  <a:close/>
                </a:path>
              </a:pathLst>
            </a:custGeom>
            <a:solidFill>
              <a:srgbClr val="D0FCFF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0"/>
              <a:ext cx="1257515" cy="2775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8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3005281" y="2972305"/>
            <a:ext cx="4753556" cy="1155504"/>
            <a:chOff x="0" y="0"/>
            <a:chExt cx="6338075" cy="15406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38076" cy="1540673"/>
            </a:xfrm>
            <a:custGeom>
              <a:avLst/>
              <a:gdLst/>
              <a:ahLst/>
              <a:cxnLst/>
              <a:rect r="r" b="b" t="t" l="l"/>
              <a:pathLst>
                <a:path h="1540673" w="6338076">
                  <a:moveTo>
                    <a:pt x="0" y="0"/>
                  </a:moveTo>
                  <a:lnTo>
                    <a:pt x="6338076" y="0"/>
                  </a:lnTo>
                  <a:lnTo>
                    <a:pt x="6338076" y="1540673"/>
                  </a:lnTo>
                  <a:lnTo>
                    <a:pt x="0" y="154067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5833" r="0" b="-54483"/>
              </a:stretch>
            </a:blip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9050"/>
              <a:ext cx="6338075" cy="155972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8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GPS Tracking</a:t>
              </a:r>
            </a:p>
            <a:p>
              <a:pPr algn="ctr">
                <a:lnSpc>
                  <a:spcPts val="2759"/>
                </a:lnSpc>
              </a:pPr>
              <a:r>
                <a:rPr lang="en-US" sz="229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Real-time vehicle location &amp; route monitoring.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2798211" y="1637333"/>
            <a:ext cx="5384680" cy="1134947"/>
            <a:chOff x="0" y="0"/>
            <a:chExt cx="1527470" cy="32195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527470" cy="321950"/>
            </a:xfrm>
            <a:custGeom>
              <a:avLst/>
              <a:gdLst/>
              <a:ahLst/>
              <a:cxnLst/>
              <a:rect r="r" b="b" t="t" l="l"/>
              <a:pathLst>
                <a:path h="321950" w="1527470">
                  <a:moveTo>
                    <a:pt x="28081" y="0"/>
                  </a:moveTo>
                  <a:lnTo>
                    <a:pt x="1499389" y="0"/>
                  </a:lnTo>
                  <a:cubicBezTo>
                    <a:pt x="1506836" y="0"/>
                    <a:pt x="1513979" y="2959"/>
                    <a:pt x="1519245" y="8225"/>
                  </a:cubicBezTo>
                  <a:cubicBezTo>
                    <a:pt x="1524512" y="13491"/>
                    <a:pt x="1527470" y="20634"/>
                    <a:pt x="1527470" y="28081"/>
                  </a:cubicBezTo>
                  <a:lnTo>
                    <a:pt x="1527470" y="293869"/>
                  </a:lnTo>
                  <a:cubicBezTo>
                    <a:pt x="1527470" y="301316"/>
                    <a:pt x="1524512" y="308459"/>
                    <a:pt x="1519245" y="313725"/>
                  </a:cubicBezTo>
                  <a:cubicBezTo>
                    <a:pt x="1513979" y="318992"/>
                    <a:pt x="1506836" y="321950"/>
                    <a:pt x="1499389" y="321950"/>
                  </a:cubicBezTo>
                  <a:lnTo>
                    <a:pt x="28081" y="321950"/>
                  </a:lnTo>
                  <a:cubicBezTo>
                    <a:pt x="20634" y="321950"/>
                    <a:pt x="13491" y="318992"/>
                    <a:pt x="8225" y="313725"/>
                  </a:cubicBezTo>
                  <a:cubicBezTo>
                    <a:pt x="2959" y="308459"/>
                    <a:pt x="0" y="301316"/>
                    <a:pt x="0" y="293869"/>
                  </a:cubicBezTo>
                  <a:lnTo>
                    <a:pt x="0" y="28081"/>
                  </a:lnTo>
                  <a:cubicBezTo>
                    <a:pt x="0" y="20634"/>
                    <a:pt x="2959" y="13491"/>
                    <a:pt x="8225" y="8225"/>
                  </a:cubicBezTo>
                  <a:cubicBezTo>
                    <a:pt x="13491" y="2959"/>
                    <a:pt x="20634" y="0"/>
                    <a:pt x="28081" y="0"/>
                  </a:cubicBezTo>
                  <a:close/>
                </a:path>
              </a:pathLst>
            </a:custGeom>
            <a:solidFill>
              <a:srgbClr val="D0FCFF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0"/>
              <a:ext cx="1527470" cy="321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8"/>
                </a:lnSpc>
              </a:pP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3009815" y="1568760"/>
            <a:ext cx="4749022" cy="1272092"/>
            <a:chOff x="0" y="0"/>
            <a:chExt cx="6332030" cy="169612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332031" cy="1696123"/>
            </a:xfrm>
            <a:custGeom>
              <a:avLst/>
              <a:gdLst/>
              <a:ahLst/>
              <a:cxnLst/>
              <a:rect r="r" b="b" t="t" l="l"/>
              <a:pathLst>
                <a:path h="1696123" w="6332031">
                  <a:moveTo>
                    <a:pt x="0" y="0"/>
                  </a:moveTo>
                  <a:lnTo>
                    <a:pt x="6332031" y="0"/>
                  </a:lnTo>
                  <a:lnTo>
                    <a:pt x="6332031" y="1696123"/>
                  </a:lnTo>
                  <a:lnTo>
                    <a:pt x="0" y="16961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2742" r="0" b="-22742"/>
              </a:stretch>
            </a:blip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332030" cy="171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8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     Lidar &amp; Radar 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Measures distance and detects objects accurately.</a:t>
              </a:r>
            </a:p>
          </p:txBody>
        </p:sp>
      </p:grpSp>
      <p:sp>
        <p:nvSpPr>
          <p:cNvPr name="TextBox 42" id="42"/>
          <p:cNvSpPr txBox="true"/>
          <p:nvPr/>
        </p:nvSpPr>
        <p:spPr>
          <a:xfrm rot="0">
            <a:off x="721566" y="1123950"/>
            <a:ext cx="4086568" cy="1028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8"/>
              </a:lnSpc>
            </a:pPr>
            <a:r>
              <a:rPr lang="en-US" b="true" sz="3198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al Bold"/>
                <a:ea typeface="Arial Bold"/>
                <a:cs typeface="Arial Bold"/>
                <a:sym typeface="Arial Bold"/>
              </a:rPr>
              <a:t>Problem at Hand</a:t>
            </a:r>
          </a:p>
          <a:p>
            <a:pPr algn="ctr">
              <a:lnSpc>
                <a:spcPts val="3838"/>
              </a:lnSpc>
            </a:pPr>
          </a:p>
        </p:txBody>
      </p:sp>
      <p:grpSp>
        <p:nvGrpSpPr>
          <p:cNvPr name="Group 43" id="43"/>
          <p:cNvGrpSpPr/>
          <p:nvPr/>
        </p:nvGrpSpPr>
        <p:grpSpPr>
          <a:xfrm rot="0">
            <a:off x="177136" y="3647399"/>
            <a:ext cx="5493791" cy="1599781"/>
            <a:chOff x="0" y="0"/>
            <a:chExt cx="7325055" cy="2133041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7324979" cy="2132965"/>
            </a:xfrm>
            <a:custGeom>
              <a:avLst/>
              <a:gdLst/>
              <a:ahLst/>
              <a:cxnLst/>
              <a:rect r="r" b="b" t="t" l="l"/>
              <a:pathLst>
                <a:path h="2132965" w="7324979">
                  <a:moveTo>
                    <a:pt x="0" y="355473"/>
                  </a:moveTo>
                  <a:cubicBezTo>
                    <a:pt x="0" y="159131"/>
                    <a:pt x="159131" y="0"/>
                    <a:pt x="355473" y="0"/>
                  </a:cubicBezTo>
                  <a:lnTo>
                    <a:pt x="6969506" y="0"/>
                  </a:lnTo>
                  <a:cubicBezTo>
                    <a:pt x="7165849" y="0"/>
                    <a:pt x="7324979" y="159131"/>
                    <a:pt x="7324979" y="355473"/>
                  </a:cubicBezTo>
                  <a:lnTo>
                    <a:pt x="7324979" y="1777492"/>
                  </a:lnTo>
                  <a:cubicBezTo>
                    <a:pt x="7324979" y="1973834"/>
                    <a:pt x="7165849" y="2132965"/>
                    <a:pt x="6969506" y="2132965"/>
                  </a:cubicBezTo>
                  <a:lnTo>
                    <a:pt x="355473" y="2132965"/>
                  </a:lnTo>
                  <a:cubicBezTo>
                    <a:pt x="159131" y="2133092"/>
                    <a:pt x="0" y="1973834"/>
                    <a:pt x="0" y="1777492"/>
                  </a:cubicBezTo>
                  <a:close/>
                </a:path>
              </a:pathLst>
            </a:custGeom>
            <a:solidFill>
              <a:srgbClr val="FEF8DD"/>
            </a:solidFill>
            <a:ln w="9525" cap="sq">
              <a:solidFill>
                <a:srgbClr val="4A7EBB"/>
              </a:solidFill>
              <a:prstDash val="solid"/>
              <a:miter/>
            </a:ln>
          </p:spPr>
        </p:sp>
      </p:grpSp>
      <p:grpSp>
        <p:nvGrpSpPr>
          <p:cNvPr name="Group 45" id="45"/>
          <p:cNvGrpSpPr/>
          <p:nvPr/>
        </p:nvGrpSpPr>
        <p:grpSpPr>
          <a:xfrm rot="0">
            <a:off x="74514" y="1873758"/>
            <a:ext cx="5493791" cy="1599781"/>
            <a:chOff x="0" y="0"/>
            <a:chExt cx="7325055" cy="2133041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324979" cy="2132965"/>
            </a:xfrm>
            <a:custGeom>
              <a:avLst/>
              <a:gdLst/>
              <a:ahLst/>
              <a:cxnLst/>
              <a:rect r="r" b="b" t="t" l="l"/>
              <a:pathLst>
                <a:path h="2132965" w="7324979">
                  <a:moveTo>
                    <a:pt x="0" y="355473"/>
                  </a:moveTo>
                  <a:cubicBezTo>
                    <a:pt x="0" y="159131"/>
                    <a:pt x="159131" y="0"/>
                    <a:pt x="355473" y="0"/>
                  </a:cubicBezTo>
                  <a:lnTo>
                    <a:pt x="6969506" y="0"/>
                  </a:lnTo>
                  <a:cubicBezTo>
                    <a:pt x="7165849" y="0"/>
                    <a:pt x="7324979" y="159131"/>
                    <a:pt x="7324979" y="355473"/>
                  </a:cubicBezTo>
                  <a:lnTo>
                    <a:pt x="7324979" y="1777492"/>
                  </a:lnTo>
                  <a:cubicBezTo>
                    <a:pt x="7324979" y="1973834"/>
                    <a:pt x="7165849" y="2132965"/>
                    <a:pt x="6969506" y="2132965"/>
                  </a:cubicBezTo>
                  <a:lnTo>
                    <a:pt x="355473" y="2132965"/>
                  </a:lnTo>
                  <a:cubicBezTo>
                    <a:pt x="159131" y="2133092"/>
                    <a:pt x="0" y="1973834"/>
                    <a:pt x="0" y="1777492"/>
                  </a:cubicBezTo>
                  <a:close/>
                </a:path>
              </a:pathLst>
            </a:custGeom>
            <a:solidFill>
              <a:srgbClr val="FEF8DD"/>
            </a:solidFill>
            <a:ln w="9525" cap="sq">
              <a:solidFill>
                <a:srgbClr val="4A7EBB"/>
              </a:solidFill>
              <a:prstDash val="solid"/>
              <a:miter/>
            </a:ln>
          </p:spPr>
        </p:sp>
      </p:grpSp>
      <p:grpSp>
        <p:nvGrpSpPr>
          <p:cNvPr name="Group 47" id="47"/>
          <p:cNvGrpSpPr/>
          <p:nvPr/>
        </p:nvGrpSpPr>
        <p:grpSpPr>
          <a:xfrm rot="0">
            <a:off x="92726" y="5549389"/>
            <a:ext cx="5493791" cy="1599781"/>
            <a:chOff x="0" y="0"/>
            <a:chExt cx="7325055" cy="213304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7324979" cy="2132965"/>
            </a:xfrm>
            <a:custGeom>
              <a:avLst/>
              <a:gdLst/>
              <a:ahLst/>
              <a:cxnLst/>
              <a:rect r="r" b="b" t="t" l="l"/>
              <a:pathLst>
                <a:path h="2132965" w="7324979">
                  <a:moveTo>
                    <a:pt x="0" y="355473"/>
                  </a:moveTo>
                  <a:cubicBezTo>
                    <a:pt x="0" y="159131"/>
                    <a:pt x="159131" y="0"/>
                    <a:pt x="355473" y="0"/>
                  </a:cubicBezTo>
                  <a:lnTo>
                    <a:pt x="6969506" y="0"/>
                  </a:lnTo>
                  <a:cubicBezTo>
                    <a:pt x="7165849" y="0"/>
                    <a:pt x="7324979" y="159131"/>
                    <a:pt x="7324979" y="355473"/>
                  </a:cubicBezTo>
                  <a:lnTo>
                    <a:pt x="7324979" y="1777492"/>
                  </a:lnTo>
                  <a:cubicBezTo>
                    <a:pt x="7324979" y="1973834"/>
                    <a:pt x="7165849" y="2132965"/>
                    <a:pt x="6969506" y="2132965"/>
                  </a:cubicBezTo>
                  <a:lnTo>
                    <a:pt x="355473" y="2132965"/>
                  </a:lnTo>
                  <a:cubicBezTo>
                    <a:pt x="159131" y="2133092"/>
                    <a:pt x="0" y="1973834"/>
                    <a:pt x="0" y="1777492"/>
                  </a:cubicBezTo>
                  <a:close/>
                </a:path>
              </a:pathLst>
            </a:custGeom>
            <a:solidFill>
              <a:srgbClr val="FEF8DD"/>
            </a:solidFill>
            <a:ln w="9525" cap="sq">
              <a:solidFill>
                <a:srgbClr val="4A7EBB"/>
              </a:solidFill>
              <a:prstDash val="solid"/>
              <a:miter/>
            </a:ln>
          </p:spPr>
        </p:sp>
      </p:grpSp>
      <p:grpSp>
        <p:nvGrpSpPr>
          <p:cNvPr name="Group 49" id="49"/>
          <p:cNvGrpSpPr/>
          <p:nvPr/>
        </p:nvGrpSpPr>
        <p:grpSpPr>
          <a:xfrm rot="0">
            <a:off x="38776" y="7409183"/>
            <a:ext cx="5493791" cy="1599781"/>
            <a:chOff x="0" y="0"/>
            <a:chExt cx="7325055" cy="2133041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7324979" cy="2132965"/>
            </a:xfrm>
            <a:custGeom>
              <a:avLst/>
              <a:gdLst/>
              <a:ahLst/>
              <a:cxnLst/>
              <a:rect r="r" b="b" t="t" l="l"/>
              <a:pathLst>
                <a:path h="2132965" w="7324979">
                  <a:moveTo>
                    <a:pt x="0" y="355473"/>
                  </a:moveTo>
                  <a:cubicBezTo>
                    <a:pt x="0" y="159131"/>
                    <a:pt x="159131" y="0"/>
                    <a:pt x="355473" y="0"/>
                  </a:cubicBezTo>
                  <a:lnTo>
                    <a:pt x="6969506" y="0"/>
                  </a:lnTo>
                  <a:cubicBezTo>
                    <a:pt x="7165849" y="0"/>
                    <a:pt x="7324979" y="159131"/>
                    <a:pt x="7324979" y="355473"/>
                  </a:cubicBezTo>
                  <a:lnTo>
                    <a:pt x="7324979" y="1777492"/>
                  </a:lnTo>
                  <a:cubicBezTo>
                    <a:pt x="7324979" y="1973834"/>
                    <a:pt x="7165849" y="2132965"/>
                    <a:pt x="6969506" y="2132965"/>
                  </a:cubicBezTo>
                  <a:lnTo>
                    <a:pt x="355473" y="2132965"/>
                  </a:lnTo>
                  <a:cubicBezTo>
                    <a:pt x="159131" y="2133092"/>
                    <a:pt x="0" y="1973834"/>
                    <a:pt x="0" y="1777492"/>
                  </a:cubicBezTo>
                  <a:close/>
                </a:path>
              </a:pathLst>
            </a:custGeom>
            <a:solidFill>
              <a:srgbClr val="FEF8DD"/>
            </a:solidFill>
            <a:ln w="9525" cap="sq">
              <a:solidFill>
                <a:srgbClr val="4A7EBB"/>
              </a:solidFill>
              <a:prstDash val="solid"/>
              <a:miter/>
            </a:ln>
          </p:spPr>
        </p:sp>
      </p:grpSp>
      <p:grpSp>
        <p:nvGrpSpPr>
          <p:cNvPr name="Group 51" id="51"/>
          <p:cNvGrpSpPr/>
          <p:nvPr/>
        </p:nvGrpSpPr>
        <p:grpSpPr>
          <a:xfrm rot="0">
            <a:off x="87220" y="3519364"/>
            <a:ext cx="5557409" cy="1601429"/>
            <a:chOff x="0" y="0"/>
            <a:chExt cx="7409879" cy="2135238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7409881" cy="2135240"/>
            </a:xfrm>
            <a:custGeom>
              <a:avLst/>
              <a:gdLst/>
              <a:ahLst/>
              <a:cxnLst/>
              <a:rect r="r" b="b" t="t" l="l"/>
              <a:pathLst>
                <a:path h="2135240" w="7409881">
                  <a:moveTo>
                    <a:pt x="0" y="0"/>
                  </a:moveTo>
                  <a:lnTo>
                    <a:pt x="7409881" y="0"/>
                  </a:lnTo>
                  <a:lnTo>
                    <a:pt x="7409881" y="2135240"/>
                  </a:lnTo>
                  <a:lnTo>
                    <a:pt x="0" y="213524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7618" r="0" b="-17618"/>
              </a:stretch>
            </a:blip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28575"/>
              <a:ext cx="7409879" cy="216381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8"/>
                </a:lnSpc>
              </a:pPr>
              <a:r>
                <a:rPr lang="en-US" sz="2400" b="true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Low Visibility in Mines:</a:t>
              </a:r>
            </a:p>
            <a:p>
              <a:pPr algn="ctr">
                <a:lnSpc>
                  <a:spcPts val="2399"/>
                </a:lnSpc>
              </a:pPr>
              <a:r>
                <a:rPr lang="en-US" sz="20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Fog ,dust ,and smoke reduce diver visibility ,  leading to high risk of collisions between mine vehicles and with pedestrians.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58483" y="6979234"/>
            <a:ext cx="5440890" cy="2259816"/>
            <a:chOff x="0" y="0"/>
            <a:chExt cx="7254519" cy="3013088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7254525" cy="3013087"/>
            </a:xfrm>
            <a:custGeom>
              <a:avLst/>
              <a:gdLst/>
              <a:ahLst/>
              <a:cxnLst/>
              <a:rect r="r" b="b" t="t" l="l"/>
              <a:pathLst>
                <a:path h="3013087" w="7254525">
                  <a:moveTo>
                    <a:pt x="0" y="0"/>
                  </a:moveTo>
                  <a:lnTo>
                    <a:pt x="7254525" y="0"/>
                  </a:lnTo>
                  <a:lnTo>
                    <a:pt x="7254525" y="3013087"/>
                  </a:lnTo>
                  <a:lnTo>
                    <a:pt x="0" y="3013087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3289" t="0" r="-3289" b="0"/>
              </a:stretch>
            </a:blip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9050"/>
              <a:ext cx="7254519" cy="3032138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8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Inefficient Monitoring: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Manual monitoring and communication delay decisions ,increasing  risk in large open-cast mines.</a:t>
              </a:r>
            </a:p>
          </p:txBody>
        </p:sp>
      </p:grpSp>
      <p:grpSp>
        <p:nvGrpSpPr>
          <p:cNvPr name="Group 57" id="57"/>
          <p:cNvGrpSpPr/>
          <p:nvPr/>
        </p:nvGrpSpPr>
        <p:grpSpPr>
          <a:xfrm rot="0">
            <a:off x="296837" y="5107010"/>
            <a:ext cx="5224472" cy="2108425"/>
            <a:chOff x="0" y="0"/>
            <a:chExt cx="6965963" cy="2811234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6965962" cy="2811232"/>
            </a:xfrm>
            <a:custGeom>
              <a:avLst/>
              <a:gdLst/>
              <a:ahLst/>
              <a:cxnLst/>
              <a:rect r="r" b="b" t="t" l="l"/>
              <a:pathLst>
                <a:path h="2811232" w="6965962">
                  <a:moveTo>
                    <a:pt x="0" y="0"/>
                  </a:moveTo>
                  <a:lnTo>
                    <a:pt x="6965962" y="0"/>
                  </a:lnTo>
                  <a:lnTo>
                    <a:pt x="6965962" y="2811232"/>
                  </a:lnTo>
                  <a:lnTo>
                    <a:pt x="0" y="2811232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779" t="0" r="-1779" b="0"/>
              </a:stretch>
            </a:blipFill>
          </p:spPr>
        </p:sp>
        <p:sp>
          <p:nvSpPr>
            <p:cNvPr name="TextBox 59" id="59"/>
            <p:cNvSpPr txBox="true"/>
            <p:nvPr/>
          </p:nvSpPr>
          <p:spPr>
            <a:xfrm>
              <a:off x="0" y="-19050"/>
              <a:ext cx="6965963" cy="283028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8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High Accident Rate: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Collisions and near-mises cause injuries, equipment damage, production losses ,and operational delays.</a:t>
              </a:r>
            </a:p>
          </p:txBody>
        </p:sp>
      </p:grpSp>
      <p:grpSp>
        <p:nvGrpSpPr>
          <p:cNvPr name="Group 60" id="60"/>
          <p:cNvGrpSpPr/>
          <p:nvPr/>
        </p:nvGrpSpPr>
        <p:grpSpPr>
          <a:xfrm rot="0">
            <a:off x="634565" y="1793710"/>
            <a:ext cx="4549007" cy="1747552"/>
            <a:chOff x="0" y="0"/>
            <a:chExt cx="6065342" cy="2330069"/>
          </a:xfrm>
        </p:grpSpPr>
        <p:sp>
          <p:nvSpPr>
            <p:cNvPr name="Freeform 61" id="61"/>
            <p:cNvSpPr/>
            <p:nvPr/>
          </p:nvSpPr>
          <p:spPr>
            <a:xfrm flipH="false" flipV="false" rot="0">
              <a:off x="0" y="0"/>
              <a:ext cx="6065341" cy="2330064"/>
            </a:xfrm>
            <a:custGeom>
              <a:avLst/>
              <a:gdLst/>
              <a:ahLst/>
              <a:cxnLst/>
              <a:rect r="r" b="b" t="t" l="l"/>
              <a:pathLst>
                <a:path h="2330064" w="6065341">
                  <a:moveTo>
                    <a:pt x="0" y="0"/>
                  </a:moveTo>
                  <a:lnTo>
                    <a:pt x="6065341" y="0"/>
                  </a:lnTo>
                  <a:lnTo>
                    <a:pt x="6065341" y="2330064"/>
                  </a:lnTo>
                  <a:lnTo>
                    <a:pt x="0" y="23300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20" r="0" b="-721"/>
              </a:stretch>
            </a:blipFill>
          </p:spPr>
        </p:sp>
        <p:sp>
          <p:nvSpPr>
            <p:cNvPr name="TextBox 62" id="62"/>
            <p:cNvSpPr txBox="true"/>
            <p:nvPr/>
          </p:nvSpPr>
          <p:spPr>
            <a:xfrm>
              <a:off x="0" y="-19050"/>
              <a:ext cx="6065342" cy="2349119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8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Lack of Real-time Awareness: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Drivers cannot detect nearby vehicles , obstacles,or workers in blind zones or sharp turns.</a:t>
              </a:r>
            </a:p>
          </p:txBody>
        </p:sp>
      </p:grpSp>
      <p:grpSp>
        <p:nvGrpSpPr>
          <p:cNvPr name="Group 63" id="63"/>
          <p:cNvGrpSpPr/>
          <p:nvPr/>
        </p:nvGrpSpPr>
        <p:grpSpPr>
          <a:xfrm rot="0">
            <a:off x="12865489" y="6774626"/>
            <a:ext cx="5384680" cy="1314801"/>
            <a:chOff x="0" y="0"/>
            <a:chExt cx="1107959" cy="270535"/>
          </a:xfrm>
        </p:grpSpPr>
        <p:sp>
          <p:nvSpPr>
            <p:cNvPr name="Freeform 64" id="64"/>
            <p:cNvSpPr/>
            <p:nvPr/>
          </p:nvSpPr>
          <p:spPr>
            <a:xfrm flipH="false" flipV="false" rot="0">
              <a:off x="0" y="0"/>
              <a:ext cx="1107959" cy="270535"/>
            </a:xfrm>
            <a:custGeom>
              <a:avLst/>
              <a:gdLst/>
              <a:ahLst/>
              <a:cxnLst/>
              <a:rect r="r" b="b" t="t" l="l"/>
              <a:pathLst>
                <a:path h="270535" w="1107959">
                  <a:moveTo>
                    <a:pt x="28081" y="0"/>
                  </a:moveTo>
                  <a:lnTo>
                    <a:pt x="1079877" y="0"/>
                  </a:lnTo>
                  <a:cubicBezTo>
                    <a:pt x="1087325" y="0"/>
                    <a:pt x="1094468" y="2959"/>
                    <a:pt x="1099734" y="8225"/>
                  </a:cubicBezTo>
                  <a:cubicBezTo>
                    <a:pt x="1105000" y="13491"/>
                    <a:pt x="1107959" y="20634"/>
                    <a:pt x="1107959" y="28081"/>
                  </a:cubicBezTo>
                  <a:lnTo>
                    <a:pt x="1107959" y="242454"/>
                  </a:lnTo>
                  <a:cubicBezTo>
                    <a:pt x="1107959" y="249901"/>
                    <a:pt x="1105000" y="257044"/>
                    <a:pt x="1099734" y="262310"/>
                  </a:cubicBezTo>
                  <a:cubicBezTo>
                    <a:pt x="1094468" y="267577"/>
                    <a:pt x="1087325" y="270535"/>
                    <a:pt x="1079877" y="270535"/>
                  </a:cubicBezTo>
                  <a:lnTo>
                    <a:pt x="28081" y="270535"/>
                  </a:lnTo>
                  <a:cubicBezTo>
                    <a:pt x="20634" y="270535"/>
                    <a:pt x="13491" y="267577"/>
                    <a:pt x="8225" y="262310"/>
                  </a:cubicBezTo>
                  <a:cubicBezTo>
                    <a:pt x="2959" y="257044"/>
                    <a:pt x="0" y="249901"/>
                    <a:pt x="0" y="242454"/>
                  </a:cubicBezTo>
                  <a:lnTo>
                    <a:pt x="0" y="28081"/>
                  </a:lnTo>
                  <a:cubicBezTo>
                    <a:pt x="0" y="20634"/>
                    <a:pt x="2959" y="13491"/>
                    <a:pt x="8225" y="8225"/>
                  </a:cubicBezTo>
                  <a:cubicBezTo>
                    <a:pt x="13491" y="2959"/>
                    <a:pt x="20634" y="0"/>
                    <a:pt x="28081" y="0"/>
                  </a:cubicBezTo>
                  <a:close/>
                </a:path>
              </a:pathLst>
            </a:custGeom>
            <a:solidFill>
              <a:srgbClr val="D0FCFF"/>
            </a:solidFill>
          </p:spPr>
        </p:sp>
        <p:sp>
          <p:nvSpPr>
            <p:cNvPr name="TextBox 65" id="65"/>
            <p:cNvSpPr txBox="true"/>
            <p:nvPr/>
          </p:nvSpPr>
          <p:spPr>
            <a:xfrm>
              <a:off x="0" y="0"/>
              <a:ext cx="1107959" cy="270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8"/>
                </a:lnSpc>
              </a:pPr>
            </a:p>
          </p:txBody>
        </p:sp>
      </p:grpSp>
      <p:grpSp>
        <p:nvGrpSpPr>
          <p:cNvPr name="Group 66" id="66"/>
          <p:cNvGrpSpPr/>
          <p:nvPr/>
        </p:nvGrpSpPr>
        <p:grpSpPr>
          <a:xfrm rot="0">
            <a:off x="13067167" y="6745921"/>
            <a:ext cx="4792790" cy="1326525"/>
            <a:chOff x="0" y="0"/>
            <a:chExt cx="6390386" cy="1768700"/>
          </a:xfrm>
        </p:grpSpPr>
        <p:sp>
          <p:nvSpPr>
            <p:cNvPr name="Freeform 67" id="67"/>
            <p:cNvSpPr/>
            <p:nvPr/>
          </p:nvSpPr>
          <p:spPr>
            <a:xfrm flipH="false" flipV="false" rot="0">
              <a:off x="0" y="0"/>
              <a:ext cx="6390387" cy="1768695"/>
            </a:xfrm>
            <a:custGeom>
              <a:avLst/>
              <a:gdLst/>
              <a:ahLst/>
              <a:cxnLst/>
              <a:rect r="r" b="b" t="t" l="l"/>
              <a:pathLst>
                <a:path h="1768695" w="6390387">
                  <a:moveTo>
                    <a:pt x="0" y="0"/>
                  </a:moveTo>
                  <a:lnTo>
                    <a:pt x="6390387" y="0"/>
                  </a:lnTo>
                  <a:lnTo>
                    <a:pt x="6390387" y="1768695"/>
                  </a:lnTo>
                  <a:lnTo>
                    <a:pt x="0" y="176869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9929" r="0" b="-20871"/>
              </a:stretch>
            </a:blipFill>
          </p:spPr>
        </p:sp>
        <p:sp>
          <p:nvSpPr>
            <p:cNvPr name="TextBox 68" id="68"/>
            <p:cNvSpPr txBox="true"/>
            <p:nvPr/>
          </p:nvSpPr>
          <p:spPr>
            <a:xfrm>
              <a:off x="0" y="-9525"/>
              <a:ext cx="6390386" cy="17782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878"/>
                </a:lnSpc>
              </a:pPr>
              <a:r>
                <a:rPr lang="en-US" sz="2399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Command Center</a:t>
              </a:r>
            </a:p>
            <a:p>
              <a:pPr algn="ctr">
                <a:lnSpc>
                  <a:spcPts val="2638"/>
                </a:lnSpc>
              </a:pPr>
              <a:r>
                <a:rPr lang="en-US" sz="2199">
                  <a:solidFill>
                    <a:srgbClr val="000000"/>
                  </a:solidFill>
                  <a:latin typeface="Rugrats Sans"/>
                  <a:ea typeface="Rugrats Sans"/>
                  <a:cs typeface="Rugrats Sans"/>
                  <a:sym typeface="Rugrats Sans"/>
                </a:rPr>
                <a:t>Live dashboard,alerts &amp; analytics for control rooms</a:t>
              </a:r>
            </a:p>
          </p:txBody>
        </p:sp>
      </p:grpSp>
      <p:grpSp>
        <p:nvGrpSpPr>
          <p:cNvPr name="Group 69" id="69"/>
          <p:cNvGrpSpPr/>
          <p:nvPr/>
        </p:nvGrpSpPr>
        <p:grpSpPr>
          <a:xfrm rot="0">
            <a:off x="12943181" y="8175152"/>
            <a:ext cx="5160799" cy="1214783"/>
            <a:chOff x="0" y="0"/>
            <a:chExt cx="1149322" cy="270535"/>
          </a:xfrm>
        </p:grpSpPr>
        <p:sp>
          <p:nvSpPr>
            <p:cNvPr name="Freeform 70" id="70"/>
            <p:cNvSpPr/>
            <p:nvPr/>
          </p:nvSpPr>
          <p:spPr>
            <a:xfrm flipH="false" flipV="false" rot="0">
              <a:off x="0" y="0"/>
              <a:ext cx="1149322" cy="270535"/>
            </a:xfrm>
            <a:custGeom>
              <a:avLst/>
              <a:gdLst/>
              <a:ahLst/>
              <a:cxnLst/>
              <a:rect r="r" b="b" t="t" l="l"/>
              <a:pathLst>
                <a:path h="270535" w="1149322">
                  <a:moveTo>
                    <a:pt x="29300" y="0"/>
                  </a:moveTo>
                  <a:lnTo>
                    <a:pt x="1120023" y="0"/>
                  </a:lnTo>
                  <a:cubicBezTo>
                    <a:pt x="1136204" y="0"/>
                    <a:pt x="1149322" y="13118"/>
                    <a:pt x="1149322" y="29300"/>
                  </a:cubicBezTo>
                  <a:lnTo>
                    <a:pt x="1149322" y="241236"/>
                  </a:lnTo>
                  <a:cubicBezTo>
                    <a:pt x="1149322" y="249006"/>
                    <a:pt x="1146235" y="256459"/>
                    <a:pt x="1140741" y="261954"/>
                  </a:cubicBezTo>
                  <a:cubicBezTo>
                    <a:pt x="1135246" y="267448"/>
                    <a:pt x="1127793" y="270535"/>
                    <a:pt x="1120023" y="270535"/>
                  </a:cubicBezTo>
                  <a:lnTo>
                    <a:pt x="29300" y="270535"/>
                  </a:lnTo>
                  <a:cubicBezTo>
                    <a:pt x="21529" y="270535"/>
                    <a:pt x="14076" y="267448"/>
                    <a:pt x="8582" y="261954"/>
                  </a:cubicBezTo>
                  <a:cubicBezTo>
                    <a:pt x="3087" y="256459"/>
                    <a:pt x="0" y="249006"/>
                    <a:pt x="0" y="241236"/>
                  </a:cubicBezTo>
                  <a:lnTo>
                    <a:pt x="0" y="29300"/>
                  </a:lnTo>
                  <a:cubicBezTo>
                    <a:pt x="0" y="21529"/>
                    <a:pt x="3087" y="14076"/>
                    <a:pt x="8582" y="8582"/>
                  </a:cubicBezTo>
                  <a:cubicBezTo>
                    <a:pt x="14076" y="3087"/>
                    <a:pt x="21529" y="0"/>
                    <a:pt x="29300" y="0"/>
                  </a:cubicBezTo>
                  <a:close/>
                </a:path>
              </a:pathLst>
            </a:custGeom>
            <a:solidFill>
              <a:srgbClr val="D0FCFF"/>
            </a:solidFill>
          </p:spPr>
        </p:sp>
        <p:sp>
          <p:nvSpPr>
            <p:cNvPr name="TextBox 71" id="71"/>
            <p:cNvSpPr txBox="true"/>
            <p:nvPr/>
          </p:nvSpPr>
          <p:spPr>
            <a:xfrm>
              <a:off x="0" y="0"/>
              <a:ext cx="1149322" cy="2705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8"/>
                </a:lnSpc>
              </a:pPr>
            </a:p>
          </p:txBody>
        </p:sp>
      </p:grpSp>
      <p:grpSp>
        <p:nvGrpSpPr>
          <p:cNvPr name="Group 72" id="72"/>
          <p:cNvGrpSpPr/>
          <p:nvPr/>
        </p:nvGrpSpPr>
        <p:grpSpPr>
          <a:xfrm rot="0">
            <a:off x="13127638" y="8117843"/>
            <a:ext cx="4791885" cy="1272092"/>
            <a:chOff x="0" y="0"/>
            <a:chExt cx="6389180" cy="1696123"/>
          </a:xfrm>
        </p:grpSpPr>
        <p:sp>
          <p:nvSpPr>
            <p:cNvPr name="Freeform 73" id="73"/>
            <p:cNvSpPr/>
            <p:nvPr/>
          </p:nvSpPr>
          <p:spPr>
            <a:xfrm flipH="false" flipV="false" rot="0">
              <a:off x="0" y="0"/>
              <a:ext cx="6389174" cy="1696123"/>
            </a:xfrm>
            <a:custGeom>
              <a:avLst/>
              <a:gdLst/>
              <a:ahLst/>
              <a:cxnLst/>
              <a:rect r="r" b="b" t="t" l="l"/>
              <a:pathLst>
                <a:path h="1696123" w="6389174">
                  <a:moveTo>
                    <a:pt x="0" y="0"/>
                  </a:moveTo>
                  <a:lnTo>
                    <a:pt x="6389174" y="0"/>
                  </a:lnTo>
                  <a:lnTo>
                    <a:pt x="6389174" y="1696123"/>
                  </a:lnTo>
                  <a:lnTo>
                    <a:pt x="0" y="1696123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23398" r="0" b="-23398"/>
              </a:stretch>
            </a:blipFill>
          </p:spPr>
        </p:sp>
        <p:sp>
          <p:nvSpPr>
            <p:cNvPr name="TextBox 74" id="74"/>
            <p:cNvSpPr txBox="true"/>
            <p:nvPr/>
          </p:nvSpPr>
          <p:spPr>
            <a:xfrm>
              <a:off x="0" y="-19050"/>
              <a:ext cx="6389180" cy="171517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2759"/>
                </a:lnSpc>
              </a:pPr>
              <a:r>
                <a:rPr lang="en-US" sz="2298" b="true">
                  <a:solidFill>
                    <a:srgbClr val="000000"/>
                  </a:solidFill>
                  <a:latin typeface="Arial Bold"/>
                  <a:ea typeface="Arial Bold"/>
                  <a:cs typeface="Arial Bold"/>
                  <a:sym typeface="Arial Bold"/>
                </a:rPr>
                <a:t>Safety &amp; Efficiency </a:t>
              </a:r>
            </a:p>
            <a:p>
              <a:pPr algn="ctr">
                <a:lnSpc>
                  <a:spcPts val="2759"/>
                </a:lnSpc>
              </a:pPr>
              <a:r>
                <a:rPr lang="en-US" sz="2298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Reduces collisions,improves productivity &amp;fleet utilization.</a:t>
              </a:r>
            </a:p>
          </p:txBody>
        </p:sp>
      </p:grpSp>
      <p:sp>
        <p:nvSpPr>
          <p:cNvPr name="Freeform 75" id="75"/>
          <p:cNvSpPr/>
          <p:nvPr/>
        </p:nvSpPr>
        <p:spPr>
          <a:xfrm flipH="false" flipV="false" rot="0">
            <a:off x="6325386" y="6316103"/>
            <a:ext cx="5452915" cy="2692861"/>
          </a:xfrm>
          <a:custGeom>
            <a:avLst/>
            <a:gdLst/>
            <a:ahLst/>
            <a:cxnLst/>
            <a:rect r="r" b="b" t="t" l="l"/>
            <a:pathLst>
              <a:path h="2692861" w="5452915">
                <a:moveTo>
                  <a:pt x="0" y="0"/>
                </a:moveTo>
                <a:lnTo>
                  <a:pt x="5452915" y="0"/>
                </a:lnTo>
                <a:lnTo>
                  <a:pt x="5452915" y="2692861"/>
                </a:lnTo>
                <a:lnTo>
                  <a:pt x="0" y="269286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76" id="76"/>
          <p:cNvSpPr/>
          <p:nvPr/>
        </p:nvSpPr>
        <p:spPr>
          <a:xfrm flipH="false" flipV="false" rot="0">
            <a:off x="5787527" y="2128000"/>
            <a:ext cx="6410169" cy="3664228"/>
          </a:xfrm>
          <a:custGeom>
            <a:avLst/>
            <a:gdLst/>
            <a:ahLst/>
            <a:cxnLst/>
            <a:rect r="r" b="b" t="t" l="l"/>
            <a:pathLst>
              <a:path h="3664228" w="6410169">
                <a:moveTo>
                  <a:pt x="0" y="0"/>
                </a:moveTo>
                <a:lnTo>
                  <a:pt x="6410169" y="0"/>
                </a:lnTo>
                <a:lnTo>
                  <a:pt x="6410169" y="3664228"/>
                </a:lnTo>
                <a:lnTo>
                  <a:pt x="0" y="366422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2076" t="0" r="-378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7102907" y="1029367"/>
            <a:ext cx="3934806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6"/>
              </a:lnSpc>
            </a:pPr>
            <a:r>
              <a:rPr lang="en-US" b="true" sz="3696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Arial Bold"/>
                <a:ea typeface="Arial Bold"/>
                <a:cs typeface="Arial Bold"/>
                <a:sym typeface="Arial Bold"/>
              </a:rPr>
              <a:t>Our Solution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3441746" y="1097409"/>
            <a:ext cx="4317092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8"/>
              </a:lnSpc>
            </a:pPr>
            <a:r>
              <a:rPr lang="en-US" b="true" sz="3440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FDD82E">
                        <a:alpha val="100000"/>
                      </a:srgbClr>
                    </a:gs>
                  </a:gsLst>
                  <a:lin ang="5400000"/>
                </a:gradFill>
                <a:latin typeface="Arial Bold"/>
                <a:ea typeface="Arial Bold"/>
                <a:cs typeface="Arial Bold"/>
                <a:sym typeface="Arial Bold"/>
              </a:rPr>
              <a:t>Key Features</a:t>
            </a:r>
          </a:p>
          <a:p>
            <a:pPr algn="ctr">
              <a:lnSpc>
                <a:spcPts val="4128"/>
              </a:lnSpc>
            </a:pPr>
          </a:p>
        </p:txBody>
      </p:sp>
      <p:sp>
        <p:nvSpPr>
          <p:cNvPr name="TextBox 79" id="79"/>
          <p:cNvSpPr txBox="true"/>
          <p:nvPr/>
        </p:nvSpPr>
        <p:spPr>
          <a:xfrm rot="0">
            <a:off x="774211" y="236010"/>
            <a:ext cx="1990639" cy="4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Lowkey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888" y="-202007"/>
            <a:ext cx="18235265" cy="10489007"/>
          </a:xfrm>
          <a:custGeom>
            <a:avLst/>
            <a:gdLst/>
            <a:ahLst/>
            <a:cxnLst/>
            <a:rect r="r" b="b" t="t" l="l"/>
            <a:pathLst>
              <a:path h="10489007" w="18235265">
                <a:moveTo>
                  <a:pt x="0" y="0"/>
                </a:moveTo>
                <a:lnTo>
                  <a:pt x="18235266" y="0"/>
                </a:lnTo>
                <a:lnTo>
                  <a:pt x="18235266" y="10489007"/>
                </a:lnTo>
                <a:lnTo>
                  <a:pt x="0" y="1048900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" t="0" r="-3118" b="-89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2398411" cy="1540135"/>
            <a:chOff x="0" y="0"/>
            <a:chExt cx="631680" cy="4056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31680" cy="405632"/>
            </a:xfrm>
            <a:custGeom>
              <a:avLst/>
              <a:gdLst/>
              <a:ahLst/>
              <a:cxnLst/>
              <a:rect r="r" b="b" t="t" l="l"/>
              <a:pathLst>
                <a:path h="405632" w="631680">
                  <a:moveTo>
                    <a:pt x="0" y="0"/>
                  </a:moveTo>
                  <a:lnTo>
                    <a:pt x="631680" y="0"/>
                  </a:lnTo>
                  <a:lnTo>
                    <a:pt x="631680" y="405632"/>
                  </a:lnTo>
                  <a:lnTo>
                    <a:pt x="0" y="40563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0"/>
              <a:ext cx="631680" cy="4056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8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9888" y="228423"/>
            <a:ext cx="1937623" cy="1083288"/>
          </a:xfrm>
          <a:custGeom>
            <a:avLst/>
            <a:gdLst/>
            <a:ahLst/>
            <a:cxnLst/>
            <a:rect r="r" b="b" t="t" l="l"/>
            <a:pathLst>
              <a:path h="1083288" w="1937623">
                <a:moveTo>
                  <a:pt x="0" y="0"/>
                </a:moveTo>
                <a:lnTo>
                  <a:pt x="1937624" y="0"/>
                </a:lnTo>
                <a:lnTo>
                  <a:pt x="1937624" y="1083288"/>
                </a:lnTo>
                <a:lnTo>
                  <a:pt x="0" y="108328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-118600" y="404308"/>
            <a:ext cx="229460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17"/>
              </a:lnSpc>
              <a:spcBef>
                <a:spcPct val="0"/>
              </a:spcBef>
            </a:pPr>
            <a:r>
              <a:rPr lang="en-US" sz="2347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Lockey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32351" y="-153467"/>
            <a:ext cx="9379934" cy="1072944"/>
            <a:chOff x="0" y="0"/>
            <a:chExt cx="12506579" cy="143059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2506579" cy="1430528"/>
            </a:xfrm>
            <a:custGeom>
              <a:avLst/>
              <a:gdLst/>
              <a:ahLst/>
              <a:cxnLst/>
              <a:rect r="r" b="b" t="t" l="l"/>
              <a:pathLst>
                <a:path h="1430528" w="12506579">
                  <a:moveTo>
                    <a:pt x="0" y="0"/>
                  </a:moveTo>
                  <a:lnTo>
                    <a:pt x="12506579" y="0"/>
                  </a:lnTo>
                  <a:lnTo>
                    <a:pt x="12506579" y="1430528"/>
                  </a:lnTo>
                  <a:lnTo>
                    <a:pt x="0" y="14305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229" r="0" b="-120234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973909" y="-179661"/>
            <a:ext cx="9379934" cy="1094375"/>
            <a:chOff x="0" y="0"/>
            <a:chExt cx="12506579" cy="145916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2506585" cy="1459164"/>
            </a:xfrm>
            <a:custGeom>
              <a:avLst/>
              <a:gdLst/>
              <a:ahLst/>
              <a:cxnLst/>
              <a:rect r="r" b="b" t="t" l="l"/>
              <a:pathLst>
                <a:path h="1459164" w="12506585">
                  <a:moveTo>
                    <a:pt x="0" y="0"/>
                  </a:moveTo>
                  <a:lnTo>
                    <a:pt x="12506585" y="0"/>
                  </a:lnTo>
                  <a:lnTo>
                    <a:pt x="12506585" y="1459164"/>
                  </a:lnTo>
                  <a:lnTo>
                    <a:pt x="0" y="1459164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17007" r="0" b="-117007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2506579" cy="148774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FEASIBILITY AND VIABILITY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4</a:t>
              </a:r>
            </a:p>
          </p:txBody>
        </p:sp>
      </p:grpSp>
      <p:sp>
        <p:nvSpPr>
          <p:cNvPr name="Freeform 12" id="12" descr="Your startup LOGO"/>
          <p:cNvSpPr/>
          <p:nvPr/>
        </p:nvSpPr>
        <p:spPr>
          <a:xfrm flipH="false" flipV="false" rot="0">
            <a:off x="-74927" y="-153467"/>
            <a:ext cx="1965979" cy="952900"/>
          </a:xfrm>
          <a:custGeom>
            <a:avLst/>
            <a:gdLst/>
            <a:ahLst/>
            <a:cxnLst/>
            <a:rect r="r" b="b" t="t" l="l"/>
            <a:pathLst>
              <a:path h="952900" w="1965979">
                <a:moveTo>
                  <a:pt x="0" y="0"/>
                </a:moveTo>
                <a:lnTo>
                  <a:pt x="1965979" y="0"/>
                </a:lnTo>
                <a:lnTo>
                  <a:pt x="1965979" y="952900"/>
                </a:lnTo>
                <a:lnTo>
                  <a:pt x="0" y="95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200342" y="29708"/>
            <a:ext cx="1415440" cy="706593"/>
            <a:chOff x="0" y="0"/>
            <a:chExt cx="2583244" cy="1289565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583247" cy="1289559"/>
            </a:xfrm>
            <a:custGeom>
              <a:avLst/>
              <a:gdLst/>
              <a:ahLst/>
              <a:cxnLst/>
              <a:rect r="r" b="b" t="t" l="l"/>
              <a:pathLst>
                <a:path h="1289559" w="2583247">
                  <a:moveTo>
                    <a:pt x="0" y="0"/>
                  </a:moveTo>
                  <a:lnTo>
                    <a:pt x="2583247" y="0"/>
                  </a:lnTo>
                  <a:lnTo>
                    <a:pt x="2583247" y="1289559"/>
                  </a:lnTo>
                  <a:lnTo>
                    <a:pt x="0" y="1289559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-14049" t="0" r="-14049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2583244" cy="13467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240"/>
                </a:lnSpc>
              </a:pPr>
              <a:r>
                <a:rPr lang="en-US" sz="2700">
                  <a:solidFill>
                    <a:srgbClr val="000000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LOWKEY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6102413" y="2248"/>
            <a:ext cx="1942519" cy="917229"/>
            <a:chOff x="0" y="0"/>
            <a:chExt cx="4499737" cy="21247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22" r="0" b="-21"/>
              </a:stretch>
            </a:blipFill>
          </p:spPr>
        </p:sp>
      </p:grpSp>
      <p:sp>
        <p:nvSpPr>
          <p:cNvPr name="AutoShape 18" id="18"/>
          <p:cNvSpPr/>
          <p:nvPr/>
        </p:nvSpPr>
        <p:spPr>
          <a:xfrm>
            <a:off x="6122175" y="1699165"/>
            <a:ext cx="0" cy="7559135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2528960" y="1975390"/>
            <a:ext cx="0" cy="7559135"/>
          </a:xfrm>
          <a:prstGeom prst="line">
            <a:avLst/>
          </a:prstGeom>
          <a:ln cap="flat" w="3810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0" id="20"/>
          <p:cNvGrpSpPr/>
          <p:nvPr/>
        </p:nvGrpSpPr>
        <p:grpSpPr>
          <a:xfrm rot="0">
            <a:off x="146300" y="4675219"/>
            <a:ext cx="5721112" cy="2036826"/>
            <a:chOff x="0" y="0"/>
            <a:chExt cx="834749" cy="29718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34749" cy="297187"/>
            </a:xfrm>
            <a:custGeom>
              <a:avLst/>
              <a:gdLst/>
              <a:ahLst/>
              <a:cxnLst/>
              <a:rect r="r" b="b" t="t" l="l"/>
              <a:pathLst>
                <a:path h="297187" w="834749">
                  <a:moveTo>
                    <a:pt x="26430" y="0"/>
                  </a:moveTo>
                  <a:lnTo>
                    <a:pt x="808319" y="0"/>
                  </a:lnTo>
                  <a:cubicBezTo>
                    <a:pt x="815329" y="0"/>
                    <a:pt x="822051" y="2785"/>
                    <a:pt x="827008" y="7741"/>
                  </a:cubicBezTo>
                  <a:cubicBezTo>
                    <a:pt x="831965" y="12698"/>
                    <a:pt x="834749" y="19420"/>
                    <a:pt x="834749" y="26430"/>
                  </a:cubicBezTo>
                  <a:lnTo>
                    <a:pt x="834749" y="270757"/>
                  </a:lnTo>
                  <a:cubicBezTo>
                    <a:pt x="834749" y="277766"/>
                    <a:pt x="831965" y="284489"/>
                    <a:pt x="827008" y="289446"/>
                  </a:cubicBezTo>
                  <a:cubicBezTo>
                    <a:pt x="822051" y="294402"/>
                    <a:pt x="815329" y="297187"/>
                    <a:pt x="808319" y="297187"/>
                  </a:cubicBezTo>
                  <a:lnTo>
                    <a:pt x="26430" y="297187"/>
                  </a:lnTo>
                  <a:cubicBezTo>
                    <a:pt x="19420" y="297187"/>
                    <a:pt x="12698" y="294402"/>
                    <a:pt x="7741" y="289446"/>
                  </a:cubicBezTo>
                  <a:cubicBezTo>
                    <a:pt x="2785" y="284489"/>
                    <a:pt x="0" y="277766"/>
                    <a:pt x="0" y="270757"/>
                  </a:cubicBezTo>
                  <a:lnTo>
                    <a:pt x="0" y="26430"/>
                  </a:lnTo>
                  <a:cubicBezTo>
                    <a:pt x="0" y="19420"/>
                    <a:pt x="2785" y="12698"/>
                    <a:pt x="7741" y="7741"/>
                  </a:cubicBezTo>
                  <a:cubicBezTo>
                    <a:pt x="12698" y="2785"/>
                    <a:pt x="19420" y="0"/>
                    <a:pt x="26430" y="0"/>
                  </a:cubicBezTo>
                  <a:close/>
                </a:path>
              </a:pathLst>
            </a:custGeom>
            <a:solidFill>
              <a:srgbClr val="F9B3B3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19050"/>
              <a:ext cx="834749" cy="3162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8"/>
                </a:lnSpc>
              </a:pPr>
              <a:r>
                <a:rPr lang="en-US" sz="21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Regulatory &amp; Legal</a:t>
              </a:r>
            </a:p>
            <a:p>
              <a:pPr algn="ctr">
                <a:lnSpc>
                  <a:spcPts val="2518"/>
                </a:lnSpc>
              </a:pPr>
              <a:r>
                <a:rPr lang="en-US" sz="20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Compliance</a:t>
              </a:r>
              <a:r>
                <a:rPr lang="en-US" sz="20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Meets DGMS safety guidelines.</a:t>
              </a:r>
            </a:p>
            <a:p>
              <a:pPr algn="ctr">
                <a:lnSpc>
                  <a:spcPts val="2518"/>
                </a:lnSpc>
              </a:pPr>
              <a:r>
                <a:rPr lang="en-US" sz="20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Data Sovereignty</a:t>
              </a:r>
              <a:r>
                <a:rPr lang="en-US" sz="20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100% on-premise architecture.</a:t>
              </a:r>
            </a:p>
            <a:p>
              <a:pPr algn="ctr">
                <a:lnSpc>
                  <a:spcPts val="2519"/>
                </a:lnSpc>
              </a:pPr>
              <a:r>
                <a:rPr lang="en-US" b="true" sz="2098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V2X License </a:t>
              </a:r>
              <a:r>
                <a:rPr lang="en-US" sz="20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Cleared V2V/V2I frequencies.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46300" y="6940645"/>
            <a:ext cx="5721112" cy="2050182"/>
            <a:chOff x="0" y="0"/>
            <a:chExt cx="893103" cy="3200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93103" cy="320047"/>
            </a:xfrm>
            <a:custGeom>
              <a:avLst/>
              <a:gdLst/>
              <a:ahLst/>
              <a:cxnLst/>
              <a:rect r="r" b="b" t="t" l="l"/>
              <a:pathLst>
                <a:path h="320047" w="893103">
                  <a:moveTo>
                    <a:pt x="26430" y="0"/>
                  </a:moveTo>
                  <a:lnTo>
                    <a:pt x="866673" y="0"/>
                  </a:lnTo>
                  <a:cubicBezTo>
                    <a:pt x="873683" y="0"/>
                    <a:pt x="880405" y="2785"/>
                    <a:pt x="885362" y="7741"/>
                  </a:cubicBezTo>
                  <a:cubicBezTo>
                    <a:pt x="890319" y="12698"/>
                    <a:pt x="893103" y="19420"/>
                    <a:pt x="893103" y="26430"/>
                  </a:cubicBezTo>
                  <a:lnTo>
                    <a:pt x="893103" y="293617"/>
                  </a:lnTo>
                  <a:cubicBezTo>
                    <a:pt x="893103" y="300627"/>
                    <a:pt x="890319" y="307349"/>
                    <a:pt x="885362" y="312306"/>
                  </a:cubicBezTo>
                  <a:cubicBezTo>
                    <a:pt x="880405" y="317262"/>
                    <a:pt x="873683" y="320047"/>
                    <a:pt x="866673" y="320047"/>
                  </a:cubicBezTo>
                  <a:lnTo>
                    <a:pt x="26430" y="320047"/>
                  </a:lnTo>
                  <a:cubicBezTo>
                    <a:pt x="19420" y="320047"/>
                    <a:pt x="12698" y="317262"/>
                    <a:pt x="7741" y="312306"/>
                  </a:cubicBezTo>
                  <a:cubicBezTo>
                    <a:pt x="2785" y="307349"/>
                    <a:pt x="0" y="300627"/>
                    <a:pt x="0" y="293617"/>
                  </a:cubicBezTo>
                  <a:lnTo>
                    <a:pt x="0" y="26430"/>
                  </a:lnTo>
                  <a:cubicBezTo>
                    <a:pt x="0" y="19420"/>
                    <a:pt x="2785" y="12698"/>
                    <a:pt x="7741" y="7741"/>
                  </a:cubicBezTo>
                  <a:cubicBezTo>
                    <a:pt x="12698" y="2785"/>
                    <a:pt x="19420" y="0"/>
                    <a:pt x="26430" y="0"/>
                  </a:cubicBezTo>
                  <a:close/>
                </a:path>
              </a:pathLst>
            </a:custGeom>
            <a:solidFill>
              <a:srgbClr val="F9B3B3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19050"/>
              <a:ext cx="893103" cy="3390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8"/>
                </a:lnSpc>
              </a:pPr>
              <a:r>
                <a:rPr lang="en-US" sz="21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Economic &amp; Business</a:t>
              </a:r>
            </a:p>
            <a:p>
              <a:pPr algn="ctr">
                <a:lnSpc>
                  <a:spcPts val="2518"/>
                </a:lnSpc>
              </a:pPr>
              <a:r>
                <a:rPr lang="en-US" sz="20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Cost Savings</a:t>
              </a:r>
              <a:r>
                <a:rPr lang="en-US" sz="20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90% reduction in downtime costs.</a:t>
              </a:r>
            </a:p>
            <a:p>
              <a:pPr algn="ctr">
                <a:lnSpc>
                  <a:spcPts val="2518"/>
                </a:lnSpc>
              </a:pPr>
              <a:r>
                <a:rPr lang="en-US" sz="20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Continuity</a:t>
              </a:r>
              <a:r>
                <a:rPr lang="en-US" sz="20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: +15% output during low visibility.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Targets: Helps hit the 100 MTPA production goal.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6516938" y="2372466"/>
            <a:ext cx="5785068" cy="2036826"/>
            <a:chOff x="0" y="0"/>
            <a:chExt cx="1190343" cy="4191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1190343" cy="419100"/>
            </a:xfrm>
            <a:custGeom>
              <a:avLst/>
              <a:gdLst/>
              <a:ahLst/>
              <a:cxnLst/>
              <a:rect r="r" b="b" t="t" l="l"/>
              <a:pathLst>
                <a:path h="419100" w="1190343">
                  <a:moveTo>
                    <a:pt x="26138" y="0"/>
                  </a:moveTo>
                  <a:lnTo>
                    <a:pt x="1164205" y="0"/>
                  </a:lnTo>
                  <a:cubicBezTo>
                    <a:pt x="1171138" y="0"/>
                    <a:pt x="1177786" y="2754"/>
                    <a:pt x="1182688" y="7656"/>
                  </a:cubicBezTo>
                  <a:cubicBezTo>
                    <a:pt x="1187589" y="12557"/>
                    <a:pt x="1190343" y="19206"/>
                    <a:pt x="1190343" y="26138"/>
                  </a:cubicBezTo>
                  <a:lnTo>
                    <a:pt x="1190343" y="392962"/>
                  </a:lnTo>
                  <a:cubicBezTo>
                    <a:pt x="1190343" y="399894"/>
                    <a:pt x="1187589" y="406543"/>
                    <a:pt x="1182688" y="411444"/>
                  </a:cubicBezTo>
                  <a:cubicBezTo>
                    <a:pt x="1177786" y="416346"/>
                    <a:pt x="1171138" y="419100"/>
                    <a:pt x="1164205" y="419100"/>
                  </a:cubicBezTo>
                  <a:lnTo>
                    <a:pt x="26138" y="419100"/>
                  </a:lnTo>
                  <a:cubicBezTo>
                    <a:pt x="19206" y="419100"/>
                    <a:pt x="12557" y="416346"/>
                    <a:pt x="7656" y="411444"/>
                  </a:cubicBezTo>
                  <a:cubicBezTo>
                    <a:pt x="2754" y="406543"/>
                    <a:pt x="0" y="399894"/>
                    <a:pt x="0" y="392962"/>
                  </a:cubicBezTo>
                  <a:lnTo>
                    <a:pt x="0" y="26138"/>
                  </a:lnTo>
                  <a:cubicBezTo>
                    <a:pt x="0" y="19206"/>
                    <a:pt x="2754" y="12557"/>
                    <a:pt x="7656" y="7656"/>
                  </a:cubicBezTo>
                  <a:cubicBezTo>
                    <a:pt x="12557" y="2754"/>
                    <a:pt x="19206" y="0"/>
                    <a:pt x="26138" y="0"/>
                  </a:cubicBezTo>
                  <a:close/>
                </a:path>
              </a:pathLst>
            </a:custGeom>
            <a:solidFill>
              <a:srgbClr val="FEF8DD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19050"/>
              <a:ext cx="1190343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8"/>
                </a:lnSpc>
              </a:pPr>
              <a:r>
                <a:rPr lang="en-US" sz="21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Sensor Overwhelm</a:t>
              </a:r>
            </a:p>
            <a:p>
              <a:pPr algn="l" marL="431584" indent="-215792" lvl="1">
                <a:lnSpc>
                  <a:spcPts val="2398"/>
                </a:lnSpc>
                <a:buFont typeface="Arial"/>
                <a:buChar char="•"/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Severe fog, heavy rain, and mist can overwhelm standard LiDAR/optical cameras. </a:t>
              </a:r>
            </a:p>
            <a:p>
              <a:pPr algn="l" marL="431584" indent="-215792" lvl="1">
                <a:lnSpc>
                  <a:spcPts val="2398"/>
                </a:lnSpc>
                <a:buFont typeface="Arial"/>
                <a:buChar char="•"/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Solution must integrate radar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6516938" y="4675219"/>
            <a:ext cx="5785068" cy="2036826"/>
            <a:chOff x="0" y="0"/>
            <a:chExt cx="1190343" cy="41910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190343" cy="419100"/>
            </a:xfrm>
            <a:custGeom>
              <a:avLst/>
              <a:gdLst/>
              <a:ahLst/>
              <a:cxnLst/>
              <a:rect r="r" b="b" t="t" l="l"/>
              <a:pathLst>
                <a:path h="419100" w="1190343">
                  <a:moveTo>
                    <a:pt x="26138" y="0"/>
                  </a:moveTo>
                  <a:lnTo>
                    <a:pt x="1164205" y="0"/>
                  </a:lnTo>
                  <a:cubicBezTo>
                    <a:pt x="1171138" y="0"/>
                    <a:pt x="1177786" y="2754"/>
                    <a:pt x="1182688" y="7656"/>
                  </a:cubicBezTo>
                  <a:cubicBezTo>
                    <a:pt x="1187589" y="12557"/>
                    <a:pt x="1190343" y="19206"/>
                    <a:pt x="1190343" y="26138"/>
                  </a:cubicBezTo>
                  <a:lnTo>
                    <a:pt x="1190343" y="392962"/>
                  </a:lnTo>
                  <a:cubicBezTo>
                    <a:pt x="1190343" y="399894"/>
                    <a:pt x="1187589" y="406543"/>
                    <a:pt x="1182688" y="411444"/>
                  </a:cubicBezTo>
                  <a:cubicBezTo>
                    <a:pt x="1177786" y="416346"/>
                    <a:pt x="1171138" y="419100"/>
                    <a:pt x="1164205" y="419100"/>
                  </a:cubicBezTo>
                  <a:lnTo>
                    <a:pt x="26138" y="419100"/>
                  </a:lnTo>
                  <a:cubicBezTo>
                    <a:pt x="19206" y="419100"/>
                    <a:pt x="12557" y="416346"/>
                    <a:pt x="7656" y="411444"/>
                  </a:cubicBezTo>
                  <a:cubicBezTo>
                    <a:pt x="2754" y="406543"/>
                    <a:pt x="0" y="399894"/>
                    <a:pt x="0" y="392962"/>
                  </a:cubicBezTo>
                  <a:lnTo>
                    <a:pt x="0" y="26138"/>
                  </a:lnTo>
                  <a:cubicBezTo>
                    <a:pt x="0" y="19206"/>
                    <a:pt x="2754" y="12557"/>
                    <a:pt x="7656" y="7656"/>
                  </a:cubicBezTo>
                  <a:cubicBezTo>
                    <a:pt x="12557" y="2754"/>
                    <a:pt x="19206" y="0"/>
                    <a:pt x="26138" y="0"/>
                  </a:cubicBezTo>
                  <a:close/>
                </a:path>
              </a:pathLst>
            </a:custGeom>
            <a:solidFill>
              <a:srgbClr val="FEF8DD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19050"/>
              <a:ext cx="1190343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8"/>
                </a:lnSpc>
              </a:pPr>
              <a:r>
                <a:rPr lang="en-US" sz="21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v2v/v21 Latency Risk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• A delay in V2V communication could mean a missed collision alert. 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• Edge computing is critical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6379350" y="6940645"/>
            <a:ext cx="5785068" cy="2036826"/>
            <a:chOff x="0" y="0"/>
            <a:chExt cx="1190343" cy="41910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190343" cy="419100"/>
            </a:xfrm>
            <a:custGeom>
              <a:avLst/>
              <a:gdLst/>
              <a:ahLst/>
              <a:cxnLst/>
              <a:rect r="r" b="b" t="t" l="l"/>
              <a:pathLst>
                <a:path h="419100" w="1190343">
                  <a:moveTo>
                    <a:pt x="26138" y="0"/>
                  </a:moveTo>
                  <a:lnTo>
                    <a:pt x="1164205" y="0"/>
                  </a:lnTo>
                  <a:cubicBezTo>
                    <a:pt x="1171138" y="0"/>
                    <a:pt x="1177786" y="2754"/>
                    <a:pt x="1182688" y="7656"/>
                  </a:cubicBezTo>
                  <a:cubicBezTo>
                    <a:pt x="1187589" y="12557"/>
                    <a:pt x="1190343" y="19206"/>
                    <a:pt x="1190343" y="26138"/>
                  </a:cubicBezTo>
                  <a:lnTo>
                    <a:pt x="1190343" y="392962"/>
                  </a:lnTo>
                  <a:cubicBezTo>
                    <a:pt x="1190343" y="399894"/>
                    <a:pt x="1187589" y="406543"/>
                    <a:pt x="1182688" y="411444"/>
                  </a:cubicBezTo>
                  <a:cubicBezTo>
                    <a:pt x="1177786" y="416346"/>
                    <a:pt x="1171138" y="419100"/>
                    <a:pt x="1164205" y="419100"/>
                  </a:cubicBezTo>
                  <a:lnTo>
                    <a:pt x="26138" y="419100"/>
                  </a:lnTo>
                  <a:cubicBezTo>
                    <a:pt x="19206" y="419100"/>
                    <a:pt x="12557" y="416346"/>
                    <a:pt x="7656" y="411444"/>
                  </a:cubicBezTo>
                  <a:cubicBezTo>
                    <a:pt x="2754" y="406543"/>
                    <a:pt x="0" y="399894"/>
                    <a:pt x="0" y="392962"/>
                  </a:cubicBezTo>
                  <a:lnTo>
                    <a:pt x="0" y="26138"/>
                  </a:lnTo>
                  <a:cubicBezTo>
                    <a:pt x="0" y="19206"/>
                    <a:pt x="2754" y="12557"/>
                    <a:pt x="7656" y="7656"/>
                  </a:cubicBezTo>
                  <a:cubicBezTo>
                    <a:pt x="12557" y="2754"/>
                    <a:pt x="19206" y="0"/>
                    <a:pt x="26138" y="0"/>
                  </a:cubicBezTo>
                  <a:close/>
                </a:path>
              </a:pathLst>
            </a:custGeom>
            <a:solidFill>
              <a:srgbClr val="FEF8DD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1190343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8"/>
                </a:lnSpc>
              </a:pPr>
              <a:r>
                <a:rPr lang="en-US" sz="21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System Reliability &amp; Hardware Degradation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• Mining environments are harsh. 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• Sensors must resist vibration and dust. 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• Need long-term component durability and maintenance framework.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786135" y="2372466"/>
            <a:ext cx="5530440" cy="2036826"/>
            <a:chOff x="0" y="0"/>
            <a:chExt cx="1137951" cy="4191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137951" cy="419100"/>
            </a:xfrm>
            <a:custGeom>
              <a:avLst/>
              <a:gdLst/>
              <a:ahLst/>
              <a:cxnLst/>
              <a:rect r="r" b="b" t="t" l="l"/>
              <a:pathLst>
                <a:path h="419100" w="1137951">
                  <a:moveTo>
                    <a:pt x="27341" y="0"/>
                  </a:moveTo>
                  <a:lnTo>
                    <a:pt x="1110609" y="0"/>
                  </a:lnTo>
                  <a:cubicBezTo>
                    <a:pt x="1125709" y="0"/>
                    <a:pt x="1137951" y="12241"/>
                    <a:pt x="1137951" y="27341"/>
                  </a:cubicBezTo>
                  <a:lnTo>
                    <a:pt x="1137951" y="391759"/>
                  </a:lnTo>
                  <a:cubicBezTo>
                    <a:pt x="1137951" y="399010"/>
                    <a:pt x="1135070" y="405964"/>
                    <a:pt x="1129942" y="411092"/>
                  </a:cubicBezTo>
                  <a:cubicBezTo>
                    <a:pt x="1124815" y="416219"/>
                    <a:pt x="1117861" y="419100"/>
                    <a:pt x="1110609" y="419100"/>
                  </a:cubicBezTo>
                  <a:lnTo>
                    <a:pt x="27341" y="419100"/>
                  </a:lnTo>
                  <a:cubicBezTo>
                    <a:pt x="12241" y="419100"/>
                    <a:pt x="0" y="406859"/>
                    <a:pt x="0" y="391759"/>
                  </a:cubicBezTo>
                  <a:lnTo>
                    <a:pt x="0" y="27341"/>
                  </a:lnTo>
                  <a:cubicBezTo>
                    <a:pt x="0" y="12241"/>
                    <a:pt x="12241" y="0"/>
                    <a:pt x="273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267">
                    <a:alpha val="100000"/>
                  </a:srgbClr>
                </a:gs>
                <a:gs pos="100000">
                  <a:srgbClr val="9F007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19050"/>
              <a:ext cx="113795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8"/>
                </a:lnSpc>
              </a:pPr>
              <a:r>
                <a:rPr lang="en-US" sz="21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Al-Powered Sensor Fusion</a:t>
              </a:r>
            </a:p>
            <a:p>
              <a:pPr algn="l" marL="431584" indent="-215792" lvl="1">
                <a:lnSpc>
                  <a:spcPts val="2398"/>
                </a:lnSpc>
                <a:buFont typeface="Arial"/>
                <a:buChar char="•"/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Use computer vision on fused Thermal Camera (for heat signatures) and Radar (for obstacle detection) data. 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• Edge analytics for noise suppression and edge detection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757560" y="4675219"/>
            <a:ext cx="5530440" cy="2036826"/>
            <a:chOff x="0" y="0"/>
            <a:chExt cx="1137951" cy="4191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37951" cy="419100"/>
            </a:xfrm>
            <a:custGeom>
              <a:avLst/>
              <a:gdLst/>
              <a:ahLst/>
              <a:cxnLst/>
              <a:rect r="r" b="b" t="t" l="l"/>
              <a:pathLst>
                <a:path h="419100" w="1137951">
                  <a:moveTo>
                    <a:pt x="27341" y="0"/>
                  </a:moveTo>
                  <a:lnTo>
                    <a:pt x="1110609" y="0"/>
                  </a:lnTo>
                  <a:cubicBezTo>
                    <a:pt x="1125709" y="0"/>
                    <a:pt x="1137951" y="12241"/>
                    <a:pt x="1137951" y="27341"/>
                  </a:cubicBezTo>
                  <a:lnTo>
                    <a:pt x="1137951" y="391759"/>
                  </a:lnTo>
                  <a:cubicBezTo>
                    <a:pt x="1137951" y="399010"/>
                    <a:pt x="1135070" y="405964"/>
                    <a:pt x="1129942" y="411092"/>
                  </a:cubicBezTo>
                  <a:cubicBezTo>
                    <a:pt x="1124815" y="416219"/>
                    <a:pt x="1117861" y="419100"/>
                    <a:pt x="1110609" y="419100"/>
                  </a:cubicBezTo>
                  <a:lnTo>
                    <a:pt x="27341" y="419100"/>
                  </a:lnTo>
                  <a:cubicBezTo>
                    <a:pt x="12241" y="419100"/>
                    <a:pt x="0" y="406859"/>
                    <a:pt x="0" y="391759"/>
                  </a:cubicBezTo>
                  <a:lnTo>
                    <a:pt x="0" y="27341"/>
                  </a:lnTo>
                  <a:cubicBezTo>
                    <a:pt x="0" y="12241"/>
                    <a:pt x="12241" y="0"/>
                    <a:pt x="273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267">
                    <a:alpha val="100000"/>
                  </a:srgbClr>
                </a:gs>
                <a:gs pos="100000">
                  <a:srgbClr val="9F007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9050"/>
              <a:ext cx="113795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8"/>
                </a:lnSpc>
              </a:pPr>
              <a:r>
                <a:rPr lang="en-US" sz="21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Centralized Digital Twin Oversight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• Create a Digital Twin-based control platform for centralized command to monitor fleet positions (GPS/DGPS) and system health. </a:t>
              </a:r>
            </a:p>
            <a:p>
              <a:pPr algn="ctr">
                <a:lnSpc>
                  <a:spcPts val="2398"/>
                </a:lnSpc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• Digital twin for simulation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12786135" y="6940645"/>
            <a:ext cx="5530440" cy="2036826"/>
            <a:chOff x="0" y="0"/>
            <a:chExt cx="1137951" cy="41910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137951" cy="419100"/>
            </a:xfrm>
            <a:custGeom>
              <a:avLst/>
              <a:gdLst/>
              <a:ahLst/>
              <a:cxnLst/>
              <a:rect r="r" b="b" t="t" l="l"/>
              <a:pathLst>
                <a:path h="419100" w="1137951">
                  <a:moveTo>
                    <a:pt x="27341" y="0"/>
                  </a:moveTo>
                  <a:lnTo>
                    <a:pt x="1110609" y="0"/>
                  </a:lnTo>
                  <a:cubicBezTo>
                    <a:pt x="1125709" y="0"/>
                    <a:pt x="1137951" y="12241"/>
                    <a:pt x="1137951" y="27341"/>
                  </a:cubicBezTo>
                  <a:lnTo>
                    <a:pt x="1137951" y="391759"/>
                  </a:lnTo>
                  <a:cubicBezTo>
                    <a:pt x="1137951" y="399010"/>
                    <a:pt x="1135070" y="405964"/>
                    <a:pt x="1129942" y="411092"/>
                  </a:cubicBezTo>
                  <a:cubicBezTo>
                    <a:pt x="1124815" y="416219"/>
                    <a:pt x="1117861" y="419100"/>
                    <a:pt x="1110609" y="419100"/>
                  </a:cubicBezTo>
                  <a:lnTo>
                    <a:pt x="27341" y="419100"/>
                  </a:lnTo>
                  <a:cubicBezTo>
                    <a:pt x="12241" y="419100"/>
                    <a:pt x="0" y="406859"/>
                    <a:pt x="0" y="391759"/>
                  </a:cubicBezTo>
                  <a:lnTo>
                    <a:pt x="0" y="27341"/>
                  </a:lnTo>
                  <a:cubicBezTo>
                    <a:pt x="0" y="12241"/>
                    <a:pt x="12241" y="0"/>
                    <a:pt x="27341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5267">
                    <a:alpha val="100000"/>
                  </a:srgbClr>
                </a:gs>
                <a:gs pos="100000">
                  <a:srgbClr val="9F0072">
                    <a:alpha val="100000"/>
                  </a:srgbClr>
                </a:gs>
              </a:gsLst>
              <a:lin ang="2700000"/>
            </a:gra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9050"/>
              <a:ext cx="1137951" cy="4381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38"/>
                </a:lnSpc>
              </a:pPr>
              <a:r>
                <a:rPr lang="en-US" sz="21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Predictive Driver-Assistance </a:t>
              </a:r>
            </a:p>
            <a:p>
              <a:pPr algn="l" marL="431584" indent="-215792" lvl="1">
                <a:lnSpc>
                  <a:spcPts val="2398"/>
                </a:lnSpc>
                <a:buFont typeface="Arial"/>
                <a:buChar char="•"/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Deploy AI/ML models that predict potential collision paths and give proactive, trajectory-based driver warnings. </a:t>
              </a:r>
            </a:p>
            <a:p>
              <a:pPr algn="l" marL="431584" indent="-215792" lvl="1">
                <a:lnSpc>
                  <a:spcPts val="2398"/>
                </a:lnSpc>
                <a:buFont typeface="Arial"/>
                <a:buChar char="•"/>
              </a:pPr>
              <a:r>
                <a:rPr lang="en-US" sz="19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• User-friendly Human-Machine Interface (HMI)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46300" y="2372466"/>
            <a:ext cx="5785068" cy="2071343"/>
            <a:chOff x="0" y="0"/>
            <a:chExt cx="1190343" cy="426202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190343" cy="426202"/>
            </a:xfrm>
            <a:custGeom>
              <a:avLst/>
              <a:gdLst/>
              <a:ahLst/>
              <a:cxnLst/>
              <a:rect r="r" b="b" t="t" l="l"/>
              <a:pathLst>
                <a:path h="426202" w="1190343">
                  <a:moveTo>
                    <a:pt x="26138" y="0"/>
                  </a:moveTo>
                  <a:lnTo>
                    <a:pt x="1164205" y="0"/>
                  </a:lnTo>
                  <a:cubicBezTo>
                    <a:pt x="1171138" y="0"/>
                    <a:pt x="1177786" y="2754"/>
                    <a:pt x="1182688" y="7656"/>
                  </a:cubicBezTo>
                  <a:cubicBezTo>
                    <a:pt x="1187589" y="12557"/>
                    <a:pt x="1190343" y="19206"/>
                    <a:pt x="1190343" y="26138"/>
                  </a:cubicBezTo>
                  <a:lnTo>
                    <a:pt x="1190343" y="400064"/>
                  </a:lnTo>
                  <a:cubicBezTo>
                    <a:pt x="1190343" y="414500"/>
                    <a:pt x="1178641" y="426202"/>
                    <a:pt x="1164205" y="426202"/>
                  </a:cubicBezTo>
                  <a:lnTo>
                    <a:pt x="26138" y="426202"/>
                  </a:lnTo>
                  <a:cubicBezTo>
                    <a:pt x="19206" y="426202"/>
                    <a:pt x="12557" y="423448"/>
                    <a:pt x="7656" y="418547"/>
                  </a:cubicBezTo>
                  <a:cubicBezTo>
                    <a:pt x="2754" y="413645"/>
                    <a:pt x="0" y="406997"/>
                    <a:pt x="0" y="400064"/>
                  </a:cubicBezTo>
                  <a:lnTo>
                    <a:pt x="0" y="26138"/>
                  </a:lnTo>
                  <a:cubicBezTo>
                    <a:pt x="0" y="19206"/>
                    <a:pt x="2754" y="12557"/>
                    <a:pt x="7656" y="7656"/>
                  </a:cubicBezTo>
                  <a:cubicBezTo>
                    <a:pt x="12557" y="2754"/>
                    <a:pt x="19206" y="0"/>
                    <a:pt x="26138" y="0"/>
                  </a:cubicBezTo>
                  <a:close/>
                </a:path>
              </a:pathLst>
            </a:custGeom>
            <a:solidFill>
              <a:srgbClr val="F9B3B3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0" y="-19050"/>
              <a:ext cx="1190343" cy="445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18"/>
                </a:lnSpc>
              </a:pPr>
              <a:r>
                <a:rPr lang="en-US" sz="20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Technical Feasibility</a:t>
              </a:r>
            </a:p>
            <a:p>
              <a:pPr algn="ctr">
                <a:lnSpc>
                  <a:spcPts val="2518"/>
                </a:lnSpc>
              </a:pPr>
              <a:r>
                <a:rPr lang="en-US" sz="20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Sensor Fusion</a:t>
              </a:r>
              <a:r>
                <a:rPr lang="en-US" sz="20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: 98% fog-penetration accuracy.</a:t>
              </a:r>
            </a:p>
            <a:p>
              <a:pPr algn="ctr">
                <a:lnSpc>
                  <a:spcPts val="2518"/>
                </a:lnSpc>
              </a:pPr>
              <a:r>
                <a:rPr lang="en-US" sz="2098" b="true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Edge Processing</a:t>
              </a:r>
              <a:r>
                <a:rPr lang="en-US" sz="20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: &lt;100ms latency for warnings.</a:t>
              </a:r>
            </a:p>
            <a:p>
              <a:pPr algn="ctr">
                <a:lnSpc>
                  <a:spcPts val="2519"/>
                </a:lnSpc>
              </a:pPr>
              <a:r>
                <a:rPr lang="en-US" b="true" sz="2098">
                  <a:solidFill>
                    <a:srgbClr val="000000"/>
                  </a:solidFill>
                  <a:latin typeface="Arimo Bold"/>
                  <a:ea typeface="Arimo Bold"/>
                  <a:cs typeface="Arimo Bold"/>
                  <a:sym typeface="Arimo Bold"/>
                </a:rPr>
                <a:t>Hardware</a:t>
              </a:r>
              <a:r>
                <a:rPr lang="en-US" sz="2098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 : IP67-rated for harsh mine conditions.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8022193" y="886139"/>
            <a:ext cx="2243614" cy="590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6"/>
              </a:lnSpc>
            </a:pPr>
            <a:r>
              <a:rPr lang="en-US" b="true" sz="3696">
                <a:gradFill>
                  <a:gsLst>
                    <a:gs pos="0">
                      <a:srgbClr val="0097B2">
                        <a:alpha val="100000"/>
                      </a:srgbClr>
                    </a:gs>
                    <a:gs pos="100000">
                      <a:srgbClr val="7ED957">
                        <a:alpha val="100000"/>
                      </a:srgbClr>
                    </a:gs>
                  </a:gsLst>
                  <a:lin ang="0"/>
                </a:gradFill>
                <a:latin typeface="Arial Bold"/>
                <a:ea typeface="Arial Bold"/>
                <a:cs typeface="Arial Bold"/>
                <a:sym typeface="Arial Bold"/>
              </a:rPr>
              <a:t>Challenge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287032" y="1000125"/>
            <a:ext cx="4086568" cy="5143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38"/>
              </a:lnSpc>
            </a:pPr>
            <a:r>
              <a:rPr lang="en-US" b="true" sz="3198">
                <a:gradFill>
                  <a:gsLst>
                    <a:gs pos="0">
                      <a:srgbClr val="FF3131">
                        <a:alpha val="100000"/>
                      </a:srgbClr>
                    </a:gs>
                    <a:gs pos="100000">
                      <a:srgbClr val="FF914D">
                        <a:alpha val="100000"/>
                      </a:srgbClr>
                    </a:gs>
                  </a:gsLst>
                  <a:lin ang="0"/>
                </a:gradFill>
                <a:latin typeface="Arial Bold"/>
                <a:ea typeface="Arial Bold"/>
                <a:cs typeface="Arial Bold"/>
                <a:sym typeface="Arial Bold"/>
              </a:rPr>
              <a:t>Solution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389247" y="890902"/>
            <a:ext cx="2296001" cy="590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36"/>
              </a:lnSpc>
            </a:pPr>
            <a:r>
              <a:rPr lang="en-US" b="true" sz="3696">
                <a:gradFill>
                  <a:gsLst>
                    <a:gs pos="0">
                      <a:srgbClr val="7B2D9F">
                        <a:alpha val="100000"/>
                      </a:srgbClr>
                    </a:gs>
                    <a:gs pos="100000">
                      <a:srgbClr val="BD758D">
                        <a:alpha val="100000"/>
                      </a:srgbClr>
                    </a:gs>
                  </a:gsLst>
                  <a:lin ang="5400000"/>
                </a:gradFill>
                <a:latin typeface="Arial Bold"/>
                <a:ea typeface="Arial Bold"/>
                <a:cs typeface="Arial Bold"/>
                <a:sym typeface="Arial Bold"/>
              </a:rPr>
              <a:t>Feasibility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786938"/>
            <a:ext cx="18288000" cy="500062"/>
            <a:chOff x="0" y="0"/>
            <a:chExt cx="24384000" cy="666750"/>
          </a:xfrm>
        </p:grpSpPr>
        <p:sp>
          <p:nvSpPr>
            <p:cNvPr name="Freeform 3" id="3" descr="image.png"/>
            <p:cNvSpPr/>
            <p:nvPr/>
          </p:nvSpPr>
          <p:spPr>
            <a:xfrm flipH="false" flipV="false" rot="0">
              <a:off x="0" y="0"/>
              <a:ext cx="24384000" cy="666750"/>
            </a:xfrm>
            <a:custGeom>
              <a:avLst/>
              <a:gdLst/>
              <a:ahLst/>
              <a:cxnLst/>
              <a:rect r="r" b="b" t="t" l="l"/>
              <a:pathLst>
                <a:path h="66675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666750"/>
                  </a:lnTo>
                  <a:lnTo>
                    <a:pt x="0" y="6667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714375" y="2571750"/>
            <a:ext cx="5286375" cy="2428875"/>
            <a:chOff x="0" y="0"/>
            <a:chExt cx="7048500" cy="3238500"/>
          </a:xfrm>
        </p:grpSpPr>
        <p:sp>
          <p:nvSpPr>
            <p:cNvPr name="Freeform 5" id="5" descr="image.png"/>
            <p:cNvSpPr/>
            <p:nvPr/>
          </p:nvSpPr>
          <p:spPr>
            <a:xfrm flipH="false" flipV="false" rot="0">
              <a:off x="0" y="0"/>
              <a:ext cx="7048500" cy="3238500"/>
            </a:xfrm>
            <a:custGeom>
              <a:avLst/>
              <a:gdLst/>
              <a:ahLst/>
              <a:cxnLst/>
              <a:rect r="r" b="b" t="t" l="l"/>
              <a:pathLst>
                <a:path h="3238500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3238500"/>
                  </a:lnTo>
                  <a:lnTo>
                    <a:pt x="0" y="3238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6500812" y="2571750"/>
            <a:ext cx="5286375" cy="2428875"/>
            <a:chOff x="0" y="0"/>
            <a:chExt cx="7048500" cy="3238500"/>
          </a:xfrm>
        </p:grpSpPr>
        <p:sp>
          <p:nvSpPr>
            <p:cNvPr name="Freeform 7" id="7" descr="image.png"/>
            <p:cNvSpPr/>
            <p:nvPr/>
          </p:nvSpPr>
          <p:spPr>
            <a:xfrm flipH="false" flipV="false" rot="0">
              <a:off x="0" y="0"/>
              <a:ext cx="7048500" cy="3238500"/>
            </a:xfrm>
            <a:custGeom>
              <a:avLst/>
              <a:gdLst/>
              <a:ahLst/>
              <a:cxnLst/>
              <a:rect r="r" b="b" t="t" l="l"/>
              <a:pathLst>
                <a:path h="3238500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3238500"/>
                  </a:lnTo>
                  <a:lnTo>
                    <a:pt x="0" y="3238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2287250" y="2571750"/>
            <a:ext cx="5286375" cy="2428875"/>
            <a:chOff x="0" y="0"/>
            <a:chExt cx="7048500" cy="3238500"/>
          </a:xfrm>
        </p:grpSpPr>
        <p:sp>
          <p:nvSpPr>
            <p:cNvPr name="Freeform 9" id="9" descr="image.png"/>
            <p:cNvSpPr/>
            <p:nvPr/>
          </p:nvSpPr>
          <p:spPr>
            <a:xfrm flipH="false" flipV="false" rot="0">
              <a:off x="0" y="0"/>
              <a:ext cx="7048500" cy="3238500"/>
            </a:xfrm>
            <a:custGeom>
              <a:avLst/>
              <a:gdLst/>
              <a:ahLst/>
              <a:cxnLst/>
              <a:rect r="r" b="b" t="t" l="l"/>
              <a:pathLst>
                <a:path h="3238500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3238500"/>
                  </a:lnTo>
                  <a:lnTo>
                    <a:pt x="0" y="3238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8247962" y="3281501"/>
            <a:ext cx="5286375" cy="3328006"/>
            <a:chOff x="0" y="0"/>
            <a:chExt cx="7048500" cy="4437342"/>
          </a:xfrm>
        </p:grpSpPr>
        <p:sp>
          <p:nvSpPr>
            <p:cNvPr name="Freeform 11" id="11" descr="image.png"/>
            <p:cNvSpPr/>
            <p:nvPr/>
          </p:nvSpPr>
          <p:spPr>
            <a:xfrm flipH="false" flipV="false" rot="0">
              <a:off x="0" y="0"/>
              <a:ext cx="7048500" cy="4437342"/>
            </a:xfrm>
            <a:custGeom>
              <a:avLst/>
              <a:gdLst/>
              <a:ahLst/>
              <a:cxnLst/>
              <a:rect r="r" b="b" t="t" l="l"/>
              <a:pathLst>
                <a:path h="4437342" w="7048500">
                  <a:moveTo>
                    <a:pt x="0" y="0"/>
                  </a:moveTo>
                  <a:lnTo>
                    <a:pt x="7048500" y="0"/>
                  </a:lnTo>
                  <a:lnTo>
                    <a:pt x="7048500" y="4437342"/>
                  </a:lnTo>
                  <a:lnTo>
                    <a:pt x="0" y="443734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8232" t="0" r="-8232" b="0"/>
              </a:stretch>
            </a:blip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5901519" y="1357312"/>
            <a:ext cx="6484963" cy="685800"/>
            <a:chOff x="0" y="0"/>
            <a:chExt cx="8646617" cy="914400"/>
          </a:xfrm>
        </p:grpSpPr>
        <p:sp>
          <p:nvSpPr>
            <p:cNvPr name="Freeform 13" id="13" descr="image.png"/>
            <p:cNvSpPr/>
            <p:nvPr/>
          </p:nvSpPr>
          <p:spPr>
            <a:xfrm flipH="false" flipV="false" rot="0">
              <a:off x="0" y="0"/>
              <a:ext cx="8646668" cy="914400"/>
            </a:xfrm>
            <a:custGeom>
              <a:avLst/>
              <a:gdLst/>
              <a:ahLst/>
              <a:cxnLst/>
              <a:rect r="r" b="b" t="t" l="l"/>
              <a:pathLst>
                <a:path h="914400" w="8646668">
                  <a:moveTo>
                    <a:pt x="0" y="0"/>
                  </a:moveTo>
                  <a:lnTo>
                    <a:pt x="8646668" y="0"/>
                  </a:lnTo>
                  <a:lnTo>
                    <a:pt x="8646668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-12" t="0" r="-11" b="0"/>
              </a:stretch>
            </a:blip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7244877" y="5500688"/>
            <a:ext cx="3798246" cy="685800"/>
            <a:chOff x="0" y="0"/>
            <a:chExt cx="5064328" cy="914400"/>
          </a:xfrm>
        </p:grpSpPr>
        <p:sp>
          <p:nvSpPr>
            <p:cNvPr name="Freeform 15" id="15" descr="image.png"/>
            <p:cNvSpPr/>
            <p:nvPr/>
          </p:nvSpPr>
          <p:spPr>
            <a:xfrm flipH="false" flipV="false" rot="0">
              <a:off x="0" y="0"/>
              <a:ext cx="5064379" cy="914400"/>
            </a:xfrm>
            <a:custGeom>
              <a:avLst/>
              <a:gdLst/>
              <a:ahLst/>
              <a:cxnLst/>
              <a:rect r="r" b="b" t="t" l="l"/>
              <a:pathLst>
                <a:path h="914400" w="5064379">
                  <a:moveTo>
                    <a:pt x="0" y="0"/>
                  </a:moveTo>
                  <a:lnTo>
                    <a:pt x="5064379" y="0"/>
                  </a:lnTo>
                  <a:lnTo>
                    <a:pt x="5064379" y="914400"/>
                  </a:lnTo>
                  <a:lnTo>
                    <a:pt x="0" y="9144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9" t="0" r="-28" b="0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428625" y="357188"/>
            <a:ext cx="1857375" cy="714375"/>
            <a:chOff x="0" y="0"/>
            <a:chExt cx="2476500" cy="952500"/>
          </a:xfrm>
        </p:grpSpPr>
        <p:sp>
          <p:nvSpPr>
            <p:cNvPr name="Freeform 17" id="17" descr="image.png"/>
            <p:cNvSpPr/>
            <p:nvPr/>
          </p:nvSpPr>
          <p:spPr>
            <a:xfrm flipH="false" flipV="false" rot="0">
              <a:off x="0" y="0"/>
              <a:ext cx="2476500" cy="952500"/>
            </a:xfrm>
            <a:custGeom>
              <a:avLst/>
              <a:gdLst/>
              <a:ahLst/>
              <a:cxnLst/>
              <a:rect r="r" b="b" t="t" l="l"/>
              <a:pathLst>
                <a:path h="952500" w="2476500">
                  <a:moveTo>
                    <a:pt x="0" y="0"/>
                  </a:moveTo>
                  <a:lnTo>
                    <a:pt x="2476500" y="0"/>
                  </a:lnTo>
                  <a:lnTo>
                    <a:pt x="2476500" y="952500"/>
                  </a:lnTo>
                  <a:lnTo>
                    <a:pt x="0" y="952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0" y="257175"/>
            <a:ext cx="18288000" cy="785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09"/>
              </a:lnSpc>
            </a:pPr>
            <a:r>
              <a:rPr lang="en-US" sz="5175" b="true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71562" y="2857500"/>
            <a:ext cx="4572000" cy="3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11111"/>
                </a:solidFill>
                <a:latin typeface="Segoe UI Bold"/>
                <a:ea typeface="Segoe UI Bold"/>
                <a:cs typeface="Segoe UI Bold"/>
                <a:sym typeface="Segoe UI Bold"/>
              </a:rPr>
              <a:t>NMDC &amp; Ministry of Steel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-303821" y="-170899"/>
            <a:ext cx="18591821" cy="10457899"/>
            <a:chOff x="0" y="0"/>
            <a:chExt cx="24384000" cy="13716000"/>
          </a:xfrm>
        </p:grpSpPr>
        <p:sp>
          <p:nvSpPr>
            <p:cNvPr name="Freeform 21" id="21" descr="image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6858000" y="6709810"/>
            <a:ext cx="4625502" cy="3052831"/>
            <a:chOff x="0" y="0"/>
            <a:chExt cx="635000" cy="4191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635000" cy="419100"/>
            </a:xfrm>
            <a:custGeom>
              <a:avLst/>
              <a:gdLst/>
              <a:ahLst/>
              <a:cxnLst/>
              <a:rect r="r" b="b" t="t" l="l"/>
              <a:pathLst>
                <a:path h="419100" w="635000">
                  <a:moveTo>
                    <a:pt x="32690" y="0"/>
                  </a:moveTo>
                  <a:lnTo>
                    <a:pt x="602310" y="0"/>
                  </a:lnTo>
                  <a:cubicBezTo>
                    <a:pt x="620364" y="0"/>
                    <a:pt x="635000" y="14636"/>
                    <a:pt x="635000" y="32690"/>
                  </a:cubicBezTo>
                  <a:lnTo>
                    <a:pt x="635000" y="386410"/>
                  </a:lnTo>
                  <a:cubicBezTo>
                    <a:pt x="635000" y="404464"/>
                    <a:pt x="620364" y="419100"/>
                    <a:pt x="602310" y="419100"/>
                  </a:cubicBezTo>
                  <a:lnTo>
                    <a:pt x="32690" y="419100"/>
                  </a:lnTo>
                  <a:cubicBezTo>
                    <a:pt x="14636" y="419100"/>
                    <a:pt x="0" y="404464"/>
                    <a:pt x="0" y="386410"/>
                  </a:cubicBezTo>
                  <a:lnTo>
                    <a:pt x="0" y="32690"/>
                  </a:lnTo>
                  <a:cubicBezTo>
                    <a:pt x="0" y="14636"/>
                    <a:pt x="14636" y="0"/>
                    <a:pt x="32690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635000" cy="41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6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117106" y="6709810"/>
            <a:ext cx="4462009" cy="3052831"/>
            <a:chOff x="0" y="0"/>
            <a:chExt cx="644148" cy="44071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44148" cy="440715"/>
            </a:xfrm>
            <a:custGeom>
              <a:avLst/>
              <a:gdLst/>
              <a:ahLst/>
              <a:cxnLst/>
              <a:rect r="r" b="b" t="t" l="l"/>
              <a:pathLst>
                <a:path h="440715" w="644148">
                  <a:moveTo>
                    <a:pt x="33888" y="0"/>
                  </a:moveTo>
                  <a:lnTo>
                    <a:pt x="610260" y="0"/>
                  </a:lnTo>
                  <a:cubicBezTo>
                    <a:pt x="619247" y="0"/>
                    <a:pt x="627867" y="3570"/>
                    <a:pt x="634222" y="9926"/>
                  </a:cubicBezTo>
                  <a:cubicBezTo>
                    <a:pt x="640578" y="16281"/>
                    <a:pt x="644148" y="24900"/>
                    <a:pt x="644148" y="33888"/>
                  </a:cubicBezTo>
                  <a:lnTo>
                    <a:pt x="644148" y="406827"/>
                  </a:lnTo>
                  <a:cubicBezTo>
                    <a:pt x="644148" y="415815"/>
                    <a:pt x="640578" y="424434"/>
                    <a:pt x="634222" y="430790"/>
                  </a:cubicBezTo>
                  <a:cubicBezTo>
                    <a:pt x="627867" y="437145"/>
                    <a:pt x="619247" y="440715"/>
                    <a:pt x="610260" y="440715"/>
                  </a:cubicBezTo>
                  <a:lnTo>
                    <a:pt x="33888" y="440715"/>
                  </a:lnTo>
                  <a:cubicBezTo>
                    <a:pt x="24900" y="440715"/>
                    <a:pt x="16281" y="437145"/>
                    <a:pt x="9926" y="430790"/>
                  </a:cubicBezTo>
                  <a:cubicBezTo>
                    <a:pt x="3570" y="424434"/>
                    <a:pt x="0" y="415815"/>
                    <a:pt x="0" y="406827"/>
                  </a:cubicBezTo>
                  <a:lnTo>
                    <a:pt x="0" y="33888"/>
                  </a:lnTo>
                  <a:cubicBezTo>
                    <a:pt x="0" y="24900"/>
                    <a:pt x="3570" y="16281"/>
                    <a:pt x="9926" y="9926"/>
                  </a:cubicBezTo>
                  <a:cubicBezTo>
                    <a:pt x="16281" y="3570"/>
                    <a:pt x="24900" y="0"/>
                    <a:pt x="33888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644148" cy="44071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6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652797" y="6681053"/>
            <a:ext cx="4705885" cy="3049849"/>
            <a:chOff x="0" y="0"/>
            <a:chExt cx="635000" cy="411539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35000" cy="411539"/>
            </a:xfrm>
            <a:custGeom>
              <a:avLst/>
              <a:gdLst/>
              <a:ahLst/>
              <a:cxnLst/>
              <a:rect r="r" b="b" t="t" l="l"/>
              <a:pathLst>
                <a:path h="411539" w="635000">
                  <a:moveTo>
                    <a:pt x="32132" y="0"/>
                  </a:moveTo>
                  <a:lnTo>
                    <a:pt x="602868" y="0"/>
                  </a:lnTo>
                  <a:cubicBezTo>
                    <a:pt x="611390" y="0"/>
                    <a:pt x="619563" y="3385"/>
                    <a:pt x="625589" y="9411"/>
                  </a:cubicBezTo>
                  <a:cubicBezTo>
                    <a:pt x="631615" y="15437"/>
                    <a:pt x="635000" y="23610"/>
                    <a:pt x="635000" y="32132"/>
                  </a:cubicBezTo>
                  <a:lnTo>
                    <a:pt x="635000" y="379407"/>
                  </a:lnTo>
                  <a:cubicBezTo>
                    <a:pt x="635000" y="397153"/>
                    <a:pt x="620614" y="411539"/>
                    <a:pt x="602868" y="411539"/>
                  </a:cubicBezTo>
                  <a:lnTo>
                    <a:pt x="32132" y="411539"/>
                  </a:lnTo>
                  <a:cubicBezTo>
                    <a:pt x="23610" y="411539"/>
                    <a:pt x="15437" y="408153"/>
                    <a:pt x="9411" y="402127"/>
                  </a:cubicBezTo>
                  <a:cubicBezTo>
                    <a:pt x="3385" y="396102"/>
                    <a:pt x="0" y="387929"/>
                    <a:pt x="0" y="379407"/>
                  </a:cubicBezTo>
                  <a:lnTo>
                    <a:pt x="0" y="32132"/>
                  </a:lnTo>
                  <a:cubicBezTo>
                    <a:pt x="0" y="23610"/>
                    <a:pt x="3385" y="15437"/>
                    <a:pt x="9411" y="9411"/>
                  </a:cubicBezTo>
                  <a:cubicBezTo>
                    <a:pt x="15437" y="3385"/>
                    <a:pt x="23610" y="0"/>
                    <a:pt x="32132" y="0"/>
                  </a:cubicBezTo>
                  <a:close/>
                </a:path>
              </a:pathLst>
            </a:custGeom>
            <a:solidFill>
              <a:srgbClr val="38B6FF"/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0"/>
              <a:ext cx="635000" cy="41153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56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071562" y="3300413"/>
            <a:ext cx="4572000" cy="1528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Secures NMDC's target of 100 MTPA by enabling continuous, safe operations of HEMM in zero-visibility conditions, minimizing massive production losses during the 5-month monsoon season.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58000" y="2857500"/>
            <a:ext cx="4572000" cy="3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11111"/>
                </a:solidFill>
                <a:latin typeface="Segoe UI Bold"/>
                <a:ea typeface="Segoe UI Bold"/>
                <a:cs typeface="Segoe UI Bold"/>
                <a:sym typeface="Segoe UI Bold"/>
              </a:rPr>
              <a:t>Dumper Operators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58000" y="3300413"/>
            <a:ext cx="457200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Drastically improves personal safety, reduces cognitive load, and aims for zero collisions during high-stress low-visibility hilltop operations through AI driver-assistance.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644438" y="2857500"/>
            <a:ext cx="4572000" cy="3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11111"/>
                </a:solidFill>
                <a:latin typeface="Segoe UI Bold"/>
                <a:ea typeface="Segoe UI Bold"/>
                <a:cs typeface="Segoe UI Bold"/>
                <a:sym typeface="Segoe UI Bold"/>
              </a:rPr>
              <a:t>Mining Industry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644438" y="3300413"/>
            <a:ext cx="4572000" cy="1228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Creates a scalable, digital-first template for all mechanized open-cast mines across India, revolutionizing haulage efficiency and setting new advanced safety benchmarks.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38250" y="6836569"/>
            <a:ext cx="4572000" cy="3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11111"/>
                </a:solidFill>
                <a:latin typeface="Segoe UI Bold"/>
                <a:ea typeface="Segoe UI Bold"/>
                <a:cs typeface="Segoe UI Bold"/>
                <a:sym typeface="Segoe UI Bold"/>
              </a:rPr>
              <a:t>Operational Transformation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6858000" y="6665119"/>
            <a:ext cx="4572000" cy="3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11111"/>
                </a:solidFill>
                <a:latin typeface="Segoe UI Bold"/>
                <a:ea typeface="Segoe UI Bold"/>
                <a:cs typeface="Segoe UI Bold"/>
                <a:sym typeface="Segoe UI Bold"/>
              </a:rPr>
              <a:t>Economic Benefits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2644438" y="7000875"/>
            <a:ext cx="4572000" cy="32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0"/>
              </a:lnSpc>
            </a:pPr>
            <a:r>
              <a:rPr lang="en-US" sz="2250" b="true">
                <a:solidFill>
                  <a:srgbClr val="111111"/>
                </a:solidFill>
                <a:latin typeface="Segoe UI Bold"/>
                <a:ea typeface="Segoe UI Bold"/>
                <a:cs typeface="Segoe UI Bold"/>
                <a:sym typeface="Segoe UI Bold"/>
              </a:rPr>
              <a:t>Digital-First Approach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85875" y="7250906"/>
            <a:ext cx="714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•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439615" y="7243763"/>
            <a:ext cx="4238625" cy="89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630" b="true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Cycle Time Reduction:</a:t>
            </a: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 Dumpers maintain optimal safe speeds instead of halting during fog.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285875" y="8142313"/>
            <a:ext cx="714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•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1439615" y="8113738"/>
            <a:ext cx="4238625" cy="60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630" b="true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Fleet Tracking:</a:t>
            </a: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 Total visibility for control rooms via live Digital Twin monitoring.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50156" y="8810920"/>
            <a:ext cx="714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•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404938" y="8718061"/>
            <a:ext cx="4238625" cy="89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630" b="true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Autonomous Ready:</a:t>
            </a: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 V2X infrastructure lays the groundwork for future fully autonomous mining.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7036594" y="7129462"/>
            <a:ext cx="714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•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7244877" y="7100887"/>
            <a:ext cx="4238625" cy="89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630" b="true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Yield Increase:</a:t>
            </a: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 Millions saved annually through uninterrupted ore output and extraction.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7036594" y="8039395"/>
            <a:ext cx="714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•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7244877" y="8023774"/>
            <a:ext cx="4238625" cy="89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630" b="true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Asset Protection:</a:t>
            </a: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 Prevents multi-crore damages and repair costs from HEMM collisions.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7036594" y="8953795"/>
            <a:ext cx="714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•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244877" y="8912276"/>
            <a:ext cx="4238625" cy="874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630" b="true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High ROI:</a:t>
            </a: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 Rapid return on hardware deployment due to retained operational uptime.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858750" y="7474506"/>
            <a:ext cx="714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•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977812" y="7443787"/>
            <a:ext cx="4238625" cy="60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630" b="true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Real-time Oversight:</a:t>
            </a: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 Live 3D dashboard monitoring of the entire mine environment.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2858750" y="8168792"/>
            <a:ext cx="714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•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2977812" y="8138074"/>
            <a:ext cx="4238625" cy="6085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630" b="true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Infrastructure V2I:</a:t>
            </a: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 Smart localized hazard broadcasting to all connected vehicles.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858750" y="8863070"/>
            <a:ext cx="71438" cy="285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6"/>
              </a:lnSpc>
            </a:pP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•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977812" y="8832352"/>
            <a:ext cx="4238625" cy="898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82"/>
              </a:lnSpc>
            </a:pPr>
            <a:r>
              <a:rPr lang="en-US" sz="1630" b="true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Collision Resilience:</a:t>
            </a:r>
            <a:r>
              <a:rPr lang="en-US" sz="1630">
                <a:solidFill>
                  <a:srgbClr val="111111"/>
                </a:solidFill>
                <a:latin typeface="Segoe UI"/>
                <a:ea typeface="Segoe UI"/>
                <a:cs typeface="Segoe UI"/>
                <a:sym typeface="Segoe UI"/>
              </a:rPr>
              <a:t> Failsafe edge computing protects vehicles independently of central cloud lag.</a:t>
            </a:r>
          </a:p>
        </p:txBody>
      </p:sp>
      <p:grpSp>
        <p:nvGrpSpPr>
          <p:cNvPr name="Group 57" id="57"/>
          <p:cNvGrpSpPr/>
          <p:nvPr/>
        </p:nvGrpSpPr>
        <p:grpSpPr>
          <a:xfrm rot="0">
            <a:off x="16102413" y="2248"/>
            <a:ext cx="1942519" cy="917229"/>
            <a:chOff x="0" y="0"/>
            <a:chExt cx="4499737" cy="2124710"/>
          </a:xfrm>
        </p:grpSpPr>
        <p:sp>
          <p:nvSpPr>
            <p:cNvPr name="Freeform 58" id="58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-22" r="0" b="-21"/>
              </a:stretch>
            </a:blipFill>
          </p:spPr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32144"/>
            <a:ext cx="18288000" cy="754856"/>
            <a:chOff x="0" y="0"/>
            <a:chExt cx="24384000" cy="100647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3335846" y="-329984"/>
            <a:ext cx="11105512" cy="1714500"/>
            <a:chOff x="0" y="0"/>
            <a:chExt cx="14807349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4807312" cy="2286000"/>
            </a:xfrm>
            <a:custGeom>
              <a:avLst/>
              <a:gdLst/>
              <a:ahLst/>
              <a:cxnLst/>
              <a:rect r="r" b="b" t="t" l="l"/>
              <a:pathLst>
                <a:path h="2286000" w="14807312">
                  <a:moveTo>
                    <a:pt x="0" y="0"/>
                  </a:moveTo>
                  <a:lnTo>
                    <a:pt x="14807312" y="0"/>
                  </a:lnTo>
                  <a:lnTo>
                    <a:pt x="14807312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76124" r="0" b="-76124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3478646" y="-96884"/>
            <a:ext cx="11105512" cy="1735931"/>
            <a:chOff x="0" y="0"/>
            <a:chExt cx="14807349" cy="231457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807346" cy="2314575"/>
            </a:xfrm>
            <a:custGeom>
              <a:avLst/>
              <a:gdLst/>
              <a:ahLst/>
              <a:cxnLst/>
              <a:rect r="r" b="b" t="t" l="l"/>
              <a:pathLst>
                <a:path h="2314575" w="14807346">
                  <a:moveTo>
                    <a:pt x="0" y="0"/>
                  </a:moveTo>
                  <a:lnTo>
                    <a:pt x="14807346" y="0"/>
                  </a:lnTo>
                  <a:lnTo>
                    <a:pt x="14807346" y="2314575"/>
                  </a:lnTo>
                  <a:lnTo>
                    <a:pt x="0" y="2314575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74654" r="0" b="-74654"/>
              </a:stretch>
            </a:blip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4807349" cy="23431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680"/>
                </a:lnSpc>
              </a:pPr>
              <a:r>
                <a:rPr lang="en-US" sz="3900" b="true">
                  <a:solidFill>
                    <a:srgbClr val="000000"/>
                  </a:solidFill>
                  <a:latin typeface="Times New Roman Bold"/>
                  <a:ea typeface="Times New Roman Bold"/>
                  <a:cs typeface="Times New Roman Bold"/>
                  <a:sym typeface="Times New Roman Bold"/>
                </a:rPr>
                <a:t>RESEARCH  AND REFERENCES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3106400" y="9534525"/>
            <a:ext cx="4267200" cy="547688"/>
            <a:chOff x="0" y="0"/>
            <a:chExt cx="5689600" cy="73025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689600" cy="730250"/>
            </a:xfrm>
            <a:custGeom>
              <a:avLst/>
              <a:gdLst/>
              <a:ahLst/>
              <a:cxnLst/>
              <a:rect r="r" b="b" t="t" l="l"/>
              <a:pathLst>
                <a:path h="730250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1707" r="0" b="-10170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13106400" y="9520238"/>
            <a:ext cx="4267200" cy="561975"/>
            <a:chOff x="0" y="0"/>
            <a:chExt cx="5689600" cy="7493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89600" cy="749301"/>
            </a:xfrm>
            <a:custGeom>
              <a:avLst/>
              <a:gdLst/>
              <a:ahLst/>
              <a:cxnLst/>
              <a:rect r="r" b="b" t="t" l="l"/>
              <a:pathLst>
                <a:path h="749301" w="5689600">
                  <a:moveTo>
                    <a:pt x="0" y="0"/>
                  </a:moveTo>
                  <a:lnTo>
                    <a:pt x="5689600" y="0"/>
                  </a:lnTo>
                  <a:lnTo>
                    <a:pt x="5689600" y="749301"/>
                  </a:lnTo>
                  <a:lnTo>
                    <a:pt x="0" y="749301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97954" r="0" b="-97954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5689600" cy="7683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6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972300" y="9534525"/>
            <a:ext cx="4806001" cy="547688"/>
            <a:chOff x="0" y="0"/>
            <a:chExt cx="6408001" cy="7302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408039" cy="730250"/>
            </a:xfrm>
            <a:custGeom>
              <a:avLst/>
              <a:gdLst/>
              <a:ahLst/>
              <a:cxnLst/>
              <a:rect r="r" b="b" t="t" l="l"/>
              <a:pathLst>
                <a:path h="730250" w="6408039">
                  <a:moveTo>
                    <a:pt x="0" y="0"/>
                  </a:moveTo>
                  <a:lnTo>
                    <a:pt x="6408039" y="0"/>
                  </a:lnTo>
                  <a:lnTo>
                    <a:pt x="6408039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20864" r="0" b="-120862"/>
              </a:stretch>
            </a:blipFill>
          </p:spPr>
        </p:sp>
      </p:grpSp>
      <p:grpSp>
        <p:nvGrpSpPr>
          <p:cNvPr name="Group 16" id="16"/>
          <p:cNvGrpSpPr/>
          <p:nvPr/>
        </p:nvGrpSpPr>
        <p:grpSpPr>
          <a:xfrm rot="0">
            <a:off x="14670129" y="2248"/>
            <a:ext cx="3374803" cy="1593532"/>
            <a:chOff x="0" y="0"/>
            <a:chExt cx="4499737" cy="212471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2" r="0" b="-21"/>
              </a:stretch>
            </a:blipFill>
          </p:spPr>
        </p:sp>
      </p:grpSp>
      <p:sp>
        <p:nvSpPr>
          <p:cNvPr name="Freeform 18" id="18"/>
          <p:cNvSpPr/>
          <p:nvPr/>
        </p:nvSpPr>
        <p:spPr>
          <a:xfrm flipH="false" flipV="false" rot="0">
            <a:off x="740162" y="2010522"/>
            <a:ext cx="16807677" cy="7094973"/>
          </a:xfrm>
          <a:custGeom>
            <a:avLst/>
            <a:gdLst/>
            <a:ahLst/>
            <a:cxnLst/>
            <a:rect r="r" b="b" t="t" l="l"/>
            <a:pathLst>
              <a:path h="7094973" w="16807677">
                <a:moveTo>
                  <a:pt x="0" y="0"/>
                </a:moveTo>
                <a:lnTo>
                  <a:pt x="16807676" y="0"/>
                </a:lnTo>
                <a:lnTo>
                  <a:pt x="16807676" y="7094974"/>
                </a:lnTo>
                <a:lnTo>
                  <a:pt x="0" y="709497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433461" y="2341594"/>
            <a:ext cx="15195883" cy="2600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28738" indent="-142913" lvl="2">
              <a:lnSpc>
                <a:spcPts val="2250"/>
              </a:lnSpc>
              <a:buFont typeface="Arial"/>
              <a:buChar char="⚬"/>
            </a:pPr>
            <a:r>
              <a:rPr lang="en-US" b="true" sz="1875" u="sng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  <a:hlinkClick r:id="rId7" tooltip="https://link.springer.com/article/10.1007/s42461-022-00678-x"/>
              </a:rPr>
              <a:t>Ku</a:t>
            </a:r>
            <a:r>
              <a:rPr lang="en-US" b="true" sz="1875" u="sng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  <a:hlinkClick r:id="rId8" tooltip="https://link.springer.com/article/10.1007/s42461-022-00678-x"/>
              </a:rPr>
              <a:t>mari et al. (2021/2022) .“Intelligent Driving System at Opencast Mines During Foggy Weather”</a:t>
            </a:r>
          </a:p>
          <a:p>
            <a:pPr algn="l">
              <a:lnSpc>
                <a:spcPts val="2250"/>
              </a:lnSpc>
            </a:pPr>
            <a:r>
              <a:rPr lang="en-US" sz="1875" u="sng">
                <a:solidFill>
                  <a:srgbClr val="38B6FF"/>
                </a:solidFill>
                <a:latin typeface="Arimo"/>
                <a:ea typeface="Arimo"/>
                <a:cs typeface="Arimo"/>
                <a:sym typeface="Arimo"/>
                <a:hlinkClick r:id="rId9" tooltip="https://link.springer.com/article/10.1007/s42461-022-00678-x"/>
              </a:rPr>
              <a:t>        https://doi.org/10.1080/17480930.2021.2009724?</a:t>
            </a: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</a:p>
          <a:p>
            <a:pPr algn="l">
              <a:lnSpc>
                <a:spcPts val="2250"/>
              </a:lnSpc>
            </a:pPr>
          </a:p>
          <a:p>
            <a:pPr algn="l" marL="428738" indent="-142913" lvl="2">
              <a:lnSpc>
                <a:spcPts val="2250"/>
              </a:lnSpc>
            </a:pPr>
          </a:p>
          <a:p>
            <a:pPr algn="l" marL="428738" indent="-142913" lvl="2">
              <a:lnSpc>
                <a:spcPts val="2250"/>
              </a:lnSpc>
            </a:pPr>
          </a:p>
        </p:txBody>
      </p:sp>
      <p:sp>
        <p:nvSpPr>
          <p:cNvPr name="Freeform 20" id="20" descr="Your startup LOGO"/>
          <p:cNvSpPr/>
          <p:nvPr/>
        </p:nvSpPr>
        <p:spPr>
          <a:xfrm flipH="false" flipV="false" rot="0">
            <a:off x="56464" y="-1372"/>
            <a:ext cx="1944433" cy="1057285"/>
          </a:xfrm>
          <a:custGeom>
            <a:avLst/>
            <a:gdLst/>
            <a:ahLst/>
            <a:cxnLst/>
            <a:rect r="r" b="b" t="t" l="l"/>
            <a:pathLst>
              <a:path h="1057285" w="1944433">
                <a:moveTo>
                  <a:pt x="0" y="0"/>
                </a:moveTo>
                <a:lnTo>
                  <a:pt x="1944434" y="0"/>
                </a:lnTo>
                <a:lnTo>
                  <a:pt x="1944434" y="1057285"/>
                </a:lnTo>
                <a:lnTo>
                  <a:pt x="0" y="10572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433461" y="3385477"/>
            <a:ext cx="15195883" cy="5905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584" indent="-215792" lvl="1">
              <a:lnSpc>
                <a:spcPts val="2398"/>
              </a:lnSpc>
              <a:buFont typeface="Arial"/>
              <a:buChar char="•"/>
            </a:pPr>
            <a:r>
              <a:rPr lang="en-US" b="true" sz="19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Ch</a:t>
            </a:r>
            <a:r>
              <a:rPr lang="en-US" b="true" sz="19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oudhary et al. (2022),“Perceptive Driving Assistant System for Opencast Mines During Foggy Weather”</a:t>
            </a:r>
          </a:p>
          <a:p>
            <a:pPr algn="l" marL="431584" indent="-215792" lvl="1">
              <a:lnSpc>
                <a:spcPts val="2398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12" tooltip="https://link.springer.com/article/10.1007/s42461-022-00678-x"/>
              </a:rPr>
              <a:t>https://link.springer.com/article/10.1007/s42461-022-00678-x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33461" y="4351304"/>
            <a:ext cx="11847393" cy="11810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31584" indent="-215792" lvl="1">
              <a:lnSpc>
                <a:spcPts val="2398"/>
              </a:lnSpc>
              <a:buFont typeface="Arial"/>
              <a:buChar char="•"/>
            </a:pPr>
            <a:r>
              <a:rPr lang="en-US" b="true" sz="19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NIOSH – C</a:t>
            </a:r>
            <a:r>
              <a:rPr lang="en-US" b="true" sz="199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ollision Warning Systems for Surface Mining Dump Trucks</a:t>
            </a:r>
          </a:p>
          <a:p>
            <a:pPr algn="l" marL="431584" indent="-215792" lvl="1">
              <a:lnSpc>
                <a:spcPts val="2398"/>
              </a:lnSpc>
              <a:buFont typeface="Arial"/>
              <a:buChar char="•"/>
            </a:pPr>
            <a:r>
              <a:rPr lang="en-US" sz="1998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13" tooltip="https://www.cdc.gov/niosh/publications/numbered/2000-120.html?CDC_AA_refVal=https%3A%2F%2Fwww.cdc.gov%2Fniosh%2Fdocs%2Fmining%2Fworks%2Fcoversheet296.html"/>
              </a:rPr>
              <a:t>https://www.cdc.gov/niosh/publications/numbered/2000-120.html?CDC_AA_refVal=https%3A%2F%2Fwww.cdc.gov%2Fniosh%2Fdocs%2Fmining%2Fworks%2Fcoversheet296.html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01674" y="5884816"/>
            <a:ext cx="14973856" cy="819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4496" indent="-192248" lvl="1">
              <a:lnSpc>
                <a:spcPts val="2137"/>
              </a:lnSpc>
              <a:buFont typeface="Arial"/>
              <a:buChar char="•"/>
            </a:pPr>
            <a:r>
              <a:rPr lang="en-US" b="true" sz="178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Guan et al. (2020) </a:t>
            </a:r>
            <a:r>
              <a:rPr lang="en-US" b="true" sz="178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Through Fog High-Resolution Imaging Using Millimeter Wave Radar</a:t>
            </a:r>
          </a:p>
          <a:p>
            <a:pPr algn="l" marL="384496" indent="-192248" lvl="1">
              <a:lnSpc>
                <a:spcPts val="2137"/>
              </a:lnSpc>
              <a:buFont typeface="Arial"/>
              <a:buChar char="•"/>
            </a:pPr>
            <a:r>
              <a:rPr lang="en-US" sz="178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https://www.microsoft.com/en-us/research/publication/through-fog-high-resolution-imaging-using-millimeter-wave-radar/</a:t>
            </a:r>
          </a:p>
          <a:p>
            <a:pPr algn="l">
              <a:lnSpc>
                <a:spcPts val="2137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438141" y="304057"/>
            <a:ext cx="1990639" cy="408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9"/>
              </a:lnSpc>
            </a:pPr>
            <a:r>
              <a:rPr lang="en-US" sz="240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Lowkey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DAHTy0MIvVA</dc:identifier>
  <dcterms:modified xsi:type="dcterms:W3CDTF">2011-08-01T06:04:30Z</dcterms:modified>
  <cp:revision>1</cp:revision>
  <dc:title>SIH</dc:title>
</cp:coreProperties>
</file>